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7"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Gill Sans MT" panose="020B0502020104020203" pitchFamily="34" charset="0"/>
      <p:regular r:id="rId13"/>
      <p:bold r:id="rId14"/>
      <p:italic r:id="rId15"/>
      <p:boldItalic r:id="rId16"/>
    </p:embeddedFont>
    <p:embeddedFont>
      <p:font typeface="Inter" panose="020B0604020202020204" charset="0"/>
      <p:regular r:id="rId1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17" autoAdjust="0"/>
    <p:restoredTop sz="94610"/>
  </p:normalViewPr>
  <p:slideViewPr>
    <p:cSldViewPr snapToGrid="0" snapToObjects="1">
      <p:cViewPr varScale="1">
        <p:scale>
          <a:sx n="69" d="100"/>
          <a:sy n="69" d="100"/>
        </p:scale>
        <p:origin x="110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625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920240" y="2864093"/>
            <a:ext cx="10789920" cy="1975104"/>
          </a:xfrm>
          <a:solidFill>
            <a:srgbClr val="FFFFFF"/>
          </a:solidFill>
          <a:ln w="38100">
            <a:solidFill>
              <a:srgbClr val="404040"/>
            </a:solidFill>
          </a:ln>
        </p:spPr>
        <p:txBody>
          <a:bodyPr lIns="274320" rIns="274320" anchor="ctr" anchorCtr="1">
            <a:normAutofit/>
          </a:bodyPr>
          <a:lstStyle>
            <a:lvl1pPr algn="ctr">
              <a:defRPr sz="456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3234233" y="5223053"/>
            <a:ext cx="8161934" cy="1487873"/>
          </a:xfrm>
          <a:noFill/>
        </p:spPr>
        <p:txBody>
          <a:bodyPr>
            <a:normAutofit/>
          </a:bodyPr>
          <a:lstStyle>
            <a:lvl1pPr marL="0" indent="0" algn="ctr">
              <a:buNone/>
              <a:defRPr sz="2400">
                <a:solidFill>
                  <a:schemeClr val="tx1">
                    <a:lumMod val="75000"/>
                    <a:lumOff val="25000"/>
                  </a:schemeClr>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5366336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257918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920240" y="2864093"/>
            <a:ext cx="10789920" cy="1975104"/>
          </a:xfrm>
          <a:solidFill>
            <a:srgbClr val="FFFFFF"/>
          </a:solidFill>
          <a:ln w="38100">
            <a:solidFill>
              <a:srgbClr val="404040"/>
            </a:solidFill>
          </a:ln>
        </p:spPr>
        <p:txBody>
          <a:bodyPr lIns="274320" rIns="274320" anchor="ctr" anchorCtr="1">
            <a:normAutofit/>
          </a:bodyPr>
          <a:lstStyle>
            <a:lvl1pPr>
              <a:defRPr sz="456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34233" y="5222958"/>
            <a:ext cx="8161934" cy="1518098"/>
          </a:xfrm>
        </p:spPr>
        <p:txBody>
          <a:bodyPr anchor="t" anchorCtr="1">
            <a:normAutofit/>
          </a:bodyPr>
          <a:lstStyle>
            <a:lvl1pPr marL="0" indent="0">
              <a:buNone/>
              <a:defRPr sz="2400">
                <a:solidFill>
                  <a:schemeClr val="tx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B61BEF0D-F0BB-DE4B-95CE-6DB70DBA9567}" type="datetimeFigureOut">
              <a:rPr lang="en-US" smtClean="0"/>
              <a:pPr/>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521433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98295" y="3165653"/>
            <a:ext cx="5126125" cy="37223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05979" y="3165653"/>
            <a:ext cx="5124296" cy="37223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B712588-04B1-427B-82EE-E8DB90309F08}" type="datetimeFigureOut">
              <a:rPr lang="en-US" smtClean="0"/>
              <a:t>11/20/2025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48172574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00123" y="2776120"/>
            <a:ext cx="5124298" cy="844904"/>
          </a:xfrm>
        </p:spPr>
        <p:txBody>
          <a:bodyPr anchor="b" anchorCtr="1">
            <a:normAutofit/>
          </a:bodyPr>
          <a:lstStyle>
            <a:lvl1pPr marL="0" indent="0" algn="ctr">
              <a:buNone/>
              <a:defRPr sz="2280" b="0" cap="all" spc="120" baseline="0">
                <a:solidFill>
                  <a:schemeClr val="accent2">
                    <a:lumMod val="75000"/>
                  </a:schemeClr>
                </a:solidFill>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900123" y="3771900"/>
            <a:ext cx="5124298" cy="3116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7605979" y="3771900"/>
            <a:ext cx="5104181" cy="3116131"/>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7605979" y="2776120"/>
            <a:ext cx="5124298" cy="844904"/>
          </a:xfrm>
        </p:spPr>
        <p:txBody>
          <a:bodyPr anchor="b" anchorCtr="1">
            <a:normAutofit/>
          </a:bodyPr>
          <a:lstStyle>
            <a:lvl1pPr marL="0" indent="0" algn="ctr">
              <a:buNone/>
              <a:defRPr sz="2280" b="0" cap="all" spc="120" baseline="0">
                <a:solidFill>
                  <a:schemeClr val="accent2">
                    <a:lumMod val="75000"/>
                  </a:schemeClr>
                </a:solidFill>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7" name="Date Placeholder 6"/>
          <p:cNvSpPr>
            <a:spLocks noGrp="1"/>
          </p:cNvSpPr>
          <p:nvPr>
            <p:ph type="dt" sz="half" idx="10"/>
          </p:nvPr>
        </p:nvSpPr>
        <p:spPr/>
        <p:txBody>
          <a:bodyPr/>
          <a:lstStyle/>
          <a:p>
            <a:fld id="{B61BEF0D-F0BB-DE4B-95CE-6DB70DBA9567}" type="datetimeFigureOut">
              <a:rPr lang="en-US" smtClean="0"/>
              <a:pPr/>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9234791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71263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397266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7315200"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965607" y="2692594"/>
            <a:ext cx="5383987" cy="1369796"/>
          </a:xfrm>
          <a:solidFill>
            <a:srgbClr val="FFFFFF"/>
          </a:solidFill>
          <a:ln>
            <a:solidFill>
              <a:srgbClr val="404040"/>
            </a:solidFill>
          </a:ln>
        </p:spPr>
        <p:txBody>
          <a:bodyPr anchor="ctr" anchorCtr="1">
            <a:normAutofit/>
          </a:bodyPr>
          <a:lstStyle>
            <a:lvl1pPr>
              <a:defRPr sz="264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8083296" y="965607"/>
            <a:ext cx="5779008" cy="6298387"/>
          </a:xfrm>
        </p:spPr>
        <p:txBody>
          <a:bodyPr>
            <a:normAutofit/>
          </a:bodyPr>
          <a:lstStyle>
            <a:lvl1pPr>
              <a:defRPr sz="2280">
                <a:solidFill>
                  <a:schemeClr val="tx1"/>
                </a:solidFill>
              </a:defRPr>
            </a:lvl1pPr>
            <a:lvl2pPr>
              <a:defRPr sz="1920">
                <a:solidFill>
                  <a:schemeClr val="tx1"/>
                </a:solidFill>
              </a:defRPr>
            </a:lvl2pPr>
            <a:lvl3pPr>
              <a:defRPr sz="1920">
                <a:solidFill>
                  <a:schemeClr val="tx1"/>
                </a:solidFill>
              </a:defRPr>
            </a:lvl3pPr>
            <a:lvl4pPr>
              <a:defRPr sz="1920">
                <a:solidFill>
                  <a:schemeClr val="tx1"/>
                </a:solidFill>
              </a:defRPr>
            </a:lvl4pPr>
            <a:lvl5pPr>
              <a:defRPr sz="1920">
                <a:solidFill>
                  <a:schemeClr val="tx1"/>
                </a:solidFill>
              </a:defRPr>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38682" y="4259902"/>
            <a:ext cx="4553712" cy="2632843"/>
          </a:xfrm>
        </p:spPr>
        <p:txBody>
          <a:bodyPr anchor="t" anchorCtr="1">
            <a:normAutofit/>
          </a:bodyPr>
          <a:lstStyle>
            <a:lvl1pPr marL="0" indent="0" algn="ctr">
              <a:buNone/>
              <a:defRPr sz="1800">
                <a:solidFill>
                  <a:srgbClr val="FFFFFF"/>
                </a:soli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9" name="Date Placeholder 8"/>
          <p:cNvSpPr>
            <a:spLocks noGrp="1"/>
          </p:cNvSpPr>
          <p:nvPr>
            <p:ph type="dt" sz="half" idx="10"/>
          </p:nvPr>
        </p:nvSpPr>
        <p:spPr/>
        <p:txBody>
          <a:bodyPr/>
          <a:lstStyle/>
          <a:p>
            <a:fld id="{42A54C80-263E-416B-A8E0-580EDEADCBDC}" type="datetimeFigureOut">
              <a:rPr lang="en-US" smtClean="0"/>
              <a:t>11/20/2025</a:t>
            </a:fld>
            <a:endParaRPr lang="en-US" dirty="0"/>
          </a:p>
        </p:txBody>
      </p:sp>
      <p:sp>
        <p:nvSpPr>
          <p:cNvPr id="10" name="Footer Placeholder 9"/>
          <p:cNvSpPr>
            <a:spLocks noGrp="1"/>
          </p:cNvSpPr>
          <p:nvPr>
            <p:ph type="ftr" sz="quarter" idx="11"/>
          </p:nvPr>
        </p:nvSpPr>
        <p:spPr>
          <a:xfrm>
            <a:off x="965607" y="7483450"/>
            <a:ext cx="6149756" cy="384048"/>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375280079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7315199"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970227" y="2692594"/>
            <a:ext cx="5393998" cy="1361568"/>
          </a:xfrm>
          <a:solidFill>
            <a:srgbClr val="FFFFFF"/>
          </a:solidFill>
          <a:ln>
            <a:solidFill>
              <a:srgbClr val="404040"/>
            </a:solidFill>
          </a:ln>
        </p:spPr>
        <p:txBody>
          <a:bodyPr anchor="ctr" anchorCtr="1">
            <a:noAutofit/>
          </a:bodyPr>
          <a:lstStyle>
            <a:lvl1pPr>
              <a:defRPr sz="264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7315200" y="0"/>
            <a:ext cx="7322516" cy="8229600"/>
          </a:xfrm>
          <a:solidFill>
            <a:schemeClr val="bg1">
              <a:lumMod val="75000"/>
            </a:schemeClr>
          </a:solidFill>
        </p:spPr>
        <p:txBody>
          <a:bodyPr anchor="t"/>
          <a:lstStyle>
            <a:lvl1pPr marL="0" indent="0">
              <a:buNone/>
              <a:defRPr sz="3840">
                <a:solidFill>
                  <a:schemeClr val="bg1">
                    <a:lumMod val="85000"/>
                    <a:lumOff val="15000"/>
                  </a:schemeClr>
                </a:solidFill>
              </a:defRPr>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338682" y="4259902"/>
            <a:ext cx="4553712" cy="2632844"/>
          </a:xfrm>
        </p:spPr>
        <p:txBody>
          <a:bodyPr anchor="t" anchorCtr="1">
            <a:normAutofit/>
          </a:bodyPr>
          <a:lstStyle>
            <a:lvl1pPr marL="0" indent="0" algn="ctr">
              <a:buNone/>
              <a:defRPr sz="1800">
                <a:solidFill>
                  <a:srgbClr val="FFFFFF"/>
                </a:soli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61BEF0D-F0BB-DE4B-95CE-6DB70DBA9567}" type="datetimeFigureOut">
              <a:rPr lang="en-US" smtClean="0"/>
              <a:pPr/>
              <a:t>11/20/2025</a:t>
            </a:fld>
            <a:endParaRPr lang="en-US" dirty="0"/>
          </a:p>
        </p:txBody>
      </p:sp>
      <p:sp>
        <p:nvSpPr>
          <p:cNvPr id="9" name="Footer Placeholder 8"/>
          <p:cNvSpPr>
            <a:spLocks noGrp="1"/>
          </p:cNvSpPr>
          <p:nvPr>
            <p:ph type="ftr" sz="quarter" idx="11"/>
          </p:nvPr>
        </p:nvSpPr>
        <p:spPr>
          <a:xfrm>
            <a:off x="965607" y="7483450"/>
            <a:ext cx="6149756" cy="384048"/>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913564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97167591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83734" y="1124712"/>
            <a:ext cx="1558330" cy="59801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77364" y="1124712"/>
            <a:ext cx="7438187" cy="59801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85713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244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9318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577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342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944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53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6573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756425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4096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22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677363" y="1157630"/>
            <a:ext cx="9275674" cy="1426464"/>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77363" y="3165653"/>
            <a:ext cx="9275674" cy="37223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385715" y="7486579"/>
            <a:ext cx="3304495" cy="388762"/>
          </a:xfrm>
          <a:prstGeom prst="rect">
            <a:avLst/>
          </a:prstGeom>
        </p:spPr>
        <p:txBody>
          <a:bodyPr vert="horz" lIns="91440" tIns="45720" rIns="91440" bIns="45720" rtlCol="0" anchor="ctr"/>
          <a:lstStyle>
            <a:lvl1pPr algn="r">
              <a:defRPr sz="1260">
                <a:solidFill>
                  <a:schemeClr val="tx1">
                    <a:alpha val="70000"/>
                  </a:schemeClr>
                </a:solidFill>
              </a:defRPr>
            </a:lvl1pPr>
          </a:lstStyle>
          <a:p>
            <a:fld id="{B61BEF0D-F0BB-DE4B-95CE-6DB70DBA9567}" type="datetimeFigureOut">
              <a:rPr lang="en-US" smtClean="0"/>
              <a:pPr/>
              <a:t>11/20/2025</a:t>
            </a:fld>
            <a:endParaRPr lang="en-US" dirty="0"/>
          </a:p>
        </p:txBody>
      </p:sp>
      <p:sp>
        <p:nvSpPr>
          <p:cNvPr id="5" name="Footer Placeholder 4"/>
          <p:cNvSpPr>
            <a:spLocks noGrp="1"/>
          </p:cNvSpPr>
          <p:nvPr>
            <p:ph type="ftr" sz="quarter" idx="3"/>
          </p:nvPr>
        </p:nvSpPr>
        <p:spPr>
          <a:xfrm>
            <a:off x="1920241" y="7483450"/>
            <a:ext cx="7081427" cy="384048"/>
          </a:xfrm>
          <a:prstGeom prst="rect">
            <a:avLst/>
          </a:prstGeom>
        </p:spPr>
        <p:txBody>
          <a:bodyPr vert="horz" lIns="91440" tIns="45720" rIns="91440" bIns="45720" rtlCol="0" anchor="ctr"/>
          <a:lstStyle>
            <a:lvl1pPr algn="l">
              <a:defRPr sz="126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2910706" y="7461504"/>
            <a:ext cx="438912" cy="438912"/>
          </a:xfrm>
          <a:prstGeom prst="ellipse">
            <a:avLst/>
          </a:prstGeom>
          <a:solidFill>
            <a:srgbClr val="1D1D1D">
              <a:alpha val="70000"/>
            </a:srgbClr>
          </a:solidFill>
        </p:spPr>
        <p:txBody>
          <a:bodyPr vert="horz" lIns="18288" tIns="45720" rIns="18288" bIns="45720" rtlCol="0" anchor="ctr">
            <a:noAutofit/>
          </a:bodyPr>
          <a:lstStyle>
            <a:lvl1pPr algn="ctr">
              <a:defRPr sz="1320" spc="0" baseline="0">
                <a:solidFill>
                  <a:srgbClr val="FF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36842724"/>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Lst>
  <p:hf sldNum="0" hdr="0" ftr="0" dt="0"/>
  <p:txStyles>
    <p:titleStyle>
      <a:lvl1pPr algn="ctr" defTabSz="1097280" rtl="0" eaLnBrk="1" latinLnBrk="0" hangingPunct="1">
        <a:lnSpc>
          <a:spcPct val="90000"/>
        </a:lnSpc>
        <a:spcBef>
          <a:spcPct val="0"/>
        </a:spcBef>
        <a:buNone/>
        <a:defRPr sz="3360" kern="1200" cap="all" spc="240" baseline="0">
          <a:solidFill>
            <a:srgbClr val="262626"/>
          </a:solidFill>
          <a:latin typeface="+mj-lt"/>
          <a:ea typeface="+mj-ea"/>
          <a:cs typeface="+mj-cs"/>
        </a:defRPr>
      </a:lvl1pPr>
    </p:titleStyle>
    <p:bodyStyle>
      <a:lvl1pPr marL="274320" indent="-274320" algn="l" defTabSz="1097280" rtl="0" eaLnBrk="1" latinLnBrk="0" hangingPunct="1">
        <a:lnSpc>
          <a:spcPct val="100000"/>
        </a:lnSpc>
        <a:spcBef>
          <a:spcPts val="1200"/>
        </a:spcBef>
        <a:buClr>
          <a:schemeClr val="accent2"/>
        </a:buClr>
        <a:buFont typeface="Arial" panose="020B0604020202020204" pitchFamily="34" charset="0"/>
        <a:buChar char="•"/>
        <a:defRPr sz="2160" kern="1200">
          <a:solidFill>
            <a:schemeClr val="tx1">
              <a:lumMod val="85000"/>
              <a:lumOff val="15000"/>
            </a:schemeClr>
          </a:solidFill>
          <a:latin typeface="+mn-lt"/>
          <a:ea typeface="+mn-ea"/>
          <a:cs typeface="+mn-cs"/>
        </a:defRPr>
      </a:lvl1pPr>
      <a:lvl2pPr marL="54864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lumMod val="85000"/>
              <a:lumOff val="15000"/>
            </a:schemeClr>
          </a:solidFill>
          <a:latin typeface="+mn-lt"/>
          <a:ea typeface="+mn-ea"/>
          <a:cs typeface="+mn-cs"/>
        </a:defRPr>
      </a:lvl2pPr>
      <a:lvl3pPr marL="82296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lumMod val="85000"/>
              <a:lumOff val="15000"/>
            </a:schemeClr>
          </a:solidFill>
          <a:latin typeface="+mn-lt"/>
          <a:ea typeface="+mn-ea"/>
          <a:cs typeface="+mn-cs"/>
        </a:defRPr>
      </a:lvl3pPr>
      <a:lvl4pPr marL="109728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lumMod val="85000"/>
              <a:lumOff val="15000"/>
            </a:schemeClr>
          </a:solidFill>
          <a:latin typeface="+mn-lt"/>
          <a:ea typeface="+mn-ea"/>
          <a:cs typeface="+mn-cs"/>
        </a:defRPr>
      </a:lvl4pPr>
      <a:lvl5pPr marL="137160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lumMod val="85000"/>
              <a:lumOff val="15000"/>
            </a:schemeClr>
          </a:solidFill>
          <a:latin typeface="+mn-lt"/>
          <a:ea typeface="+mn-ea"/>
          <a:cs typeface="+mn-cs"/>
        </a:defRPr>
      </a:lvl5pPr>
      <a:lvl6pPr marL="1575436"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solidFill>
          <a:latin typeface="+mn-lt"/>
          <a:ea typeface="+mn-ea"/>
          <a:cs typeface="+mn-cs"/>
        </a:defRPr>
      </a:lvl6pPr>
      <a:lvl7pPr marL="1781176"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solidFill>
          <a:latin typeface="+mn-lt"/>
          <a:ea typeface="+mn-ea"/>
          <a:cs typeface="+mn-cs"/>
        </a:defRPr>
      </a:lvl7pPr>
      <a:lvl8pPr marL="198882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baseline="0">
          <a:solidFill>
            <a:schemeClr val="tx1"/>
          </a:solidFill>
          <a:latin typeface="+mn-lt"/>
          <a:ea typeface="+mn-ea"/>
          <a:cs typeface="+mn-cs"/>
        </a:defRPr>
      </a:lvl8pPr>
      <a:lvl9pPr marL="225933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baseline="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8.xml"/><Relationship Id="rId16" Type="http://schemas.openxmlformats.org/officeDocument/2006/relationships/image" Target="../media/image38.jpg"/><Relationship Id="rId1" Type="http://schemas.openxmlformats.org/officeDocument/2006/relationships/slideLayout" Target="../slideLayouts/slideLayout19.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5" Type="http://schemas.openxmlformats.org/officeDocument/2006/relationships/image" Target="../media/image37.jp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svg"/></Relationships>
</file>

<file path=ppt/slides/_rels/slide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37.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190" y="1974294"/>
            <a:ext cx="7556421" cy="2126337"/>
          </a:xfrm>
          <a:prstGeom prst="rect">
            <a:avLst/>
          </a:prstGeom>
          <a:noFill/>
          <a:ln/>
        </p:spPr>
        <p:txBody>
          <a:bodyPr wrap="square" lIns="0" tIns="0" rIns="0" bIns="0" rtlCol="0" anchor="t"/>
          <a:lstStyle/>
          <a:p>
            <a:r>
              <a:rPr lang="en-US" sz="3400" b="1" dirty="0">
                <a:latin typeface="Times New Roman" panose="02020603050405020304" pitchFamily="18" charset="0"/>
                <a:cs typeface="Times New Roman" panose="02020603050405020304" pitchFamily="18" charset="0"/>
              </a:rPr>
              <a:t>Smart Safety of Plug In Electrical Vehicle With Wireless charging </a:t>
            </a:r>
            <a:endParaRPr lang="en-IN" sz="3400" b="1" dirty="0">
              <a:latin typeface="Times New Roman" panose="02020603050405020304" pitchFamily="18" charset="0"/>
              <a:cs typeface="Times New Roman" panose="02020603050405020304" pitchFamily="18" charset="0"/>
            </a:endParaRPr>
          </a:p>
        </p:txBody>
      </p:sp>
      <p:sp>
        <p:nvSpPr>
          <p:cNvPr id="4" name="Text 1"/>
          <p:cNvSpPr/>
          <p:nvPr/>
        </p:nvSpPr>
        <p:spPr>
          <a:xfrm>
            <a:off x="6280190" y="4440793"/>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Electric mobility is transforming transportation, offering significant advantages in cost reduction, enhanced energy security, and minimized urban air pollution. This project introduces a versatile, cost-effective electric vehicle platform specifically designed for educational purposes and rapid prototyping.</a:t>
            </a:r>
            <a:endParaRPr lang="en-US" sz="1750" dirty="0"/>
          </a:p>
        </p:txBody>
      </p:sp>
      <p:pic>
        <p:nvPicPr>
          <p:cNvPr id="6" name="Picture 5">
            <a:extLst>
              <a:ext uri="{FF2B5EF4-FFF2-40B4-BE49-F238E27FC236}">
                <a16:creationId xmlns:a16="http://schemas.microsoft.com/office/drawing/2014/main" id="{3728A06E-45E3-CB0D-8339-D806A6645F2D}"/>
              </a:ext>
            </a:extLst>
          </p:cNvPr>
          <p:cNvPicPr>
            <a:picLocks noChangeAspect="1"/>
          </p:cNvPicPr>
          <p:nvPr/>
        </p:nvPicPr>
        <p:blipFill>
          <a:blip r:embed="rId3"/>
          <a:stretch>
            <a:fillRect/>
          </a:stretch>
        </p:blipFill>
        <p:spPr>
          <a:xfrm>
            <a:off x="0" y="30144"/>
            <a:ext cx="6099349"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98684"/>
            <a:ext cx="10848856"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Core Innovations: Efficiency, Safety &amp; Modularity</a:t>
            </a:r>
            <a:endParaRPr lang="en-US" sz="3550" dirty="0"/>
          </a:p>
        </p:txBody>
      </p:sp>
      <p:sp>
        <p:nvSpPr>
          <p:cNvPr id="3" name="Shape 1"/>
          <p:cNvSpPr/>
          <p:nvPr/>
        </p:nvSpPr>
        <p:spPr>
          <a:xfrm>
            <a:off x="793790" y="1919288"/>
            <a:ext cx="6407944" cy="2592348"/>
          </a:xfrm>
          <a:prstGeom prst="roundRect">
            <a:avLst>
              <a:gd name="adj" fmla="val 3675"/>
            </a:avLst>
          </a:prstGeom>
          <a:solidFill>
            <a:srgbClr val="DADBF1"/>
          </a:solidFill>
          <a:ln w="7620">
            <a:solidFill>
              <a:srgbClr val="C0C1D7"/>
            </a:solidFill>
            <a:prstDash val="solid"/>
          </a:ln>
        </p:spPr>
      </p:sp>
      <p:sp>
        <p:nvSpPr>
          <p:cNvPr id="4" name="Shape 2"/>
          <p:cNvSpPr/>
          <p:nvPr/>
        </p:nvSpPr>
        <p:spPr>
          <a:xfrm>
            <a:off x="1028224" y="2153722"/>
            <a:ext cx="680442" cy="680442"/>
          </a:xfrm>
          <a:prstGeom prst="roundRect">
            <a:avLst>
              <a:gd name="adj" fmla="val 13436980"/>
            </a:avLst>
          </a:prstGeom>
          <a:solidFill>
            <a:srgbClr val="4950BC"/>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5390" y="2340769"/>
            <a:ext cx="306110" cy="306110"/>
          </a:xfrm>
          <a:prstGeom prst="rect">
            <a:avLst/>
          </a:prstGeom>
        </p:spPr>
      </p:pic>
      <p:sp>
        <p:nvSpPr>
          <p:cNvPr id="6" name="Text 3"/>
          <p:cNvSpPr/>
          <p:nvPr/>
        </p:nvSpPr>
        <p:spPr>
          <a:xfrm>
            <a:off x="1028224" y="3060978"/>
            <a:ext cx="2980373"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Efficient Battery Pack</a:t>
            </a:r>
            <a:endParaRPr lang="en-US" sz="2200" dirty="0"/>
          </a:p>
        </p:txBody>
      </p:sp>
      <p:sp>
        <p:nvSpPr>
          <p:cNvPr id="7" name="Text 4"/>
          <p:cNvSpPr/>
          <p:nvPr/>
        </p:nvSpPr>
        <p:spPr>
          <a:xfrm>
            <a:off x="1028224" y="3551396"/>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 high-density, modular battery system ensures reliable power and extended operational life.</a:t>
            </a:r>
            <a:endParaRPr lang="en-US" sz="1750" dirty="0"/>
          </a:p>
        </p:txBody>
      </p:sp>
      <p:sp>
        <p:nvSpPr>
          <p:cNvPr id="8" name="Shape 5"/>
          <p:cNvSpPr/>
          <p:nvPr/>
        </p:nvSpPr>
        <p:spPr>
          <a:xfrm>
            <a:off x="7428548" y="1919288"/>
            <a:ext cx="6408063" cy="2592348"/>
          </a:xfrm>
          <a:prstGeom prst="roundRect">
            <a:avLst>
              <a:gd name="adj" fmla="val 3675"/>
            </a:avLst>
          </a:prstGeom>
          <a:solidFill>
            <a:srgbClr val="DADBF1"/>
          </a:solidFill>
          <a:ln w="7620">
            <a:solidFill>
              <a:srgbClr val="C0C1D7"/>
            </a:solidFill>
            <a:prstDash val="solid"/>
          </a:ln>
        </p:spPr>
      </p:sp>
      <p:sp>
        <p:nvSpPr>
          <p:cNvPr id="9" name="Shape 6"/>
          <p:cNvSpPr/>
          <p:nvPr/>
        </p:nvSpPr>
        <p:spPr>
          <a:xfrm>
            <a:off x="7662982" y="2153722"/>
            <a:ext cx="680442" cy="680442"/>
          </a:xfrm>
          <a:prstGeom prst="roundRect">
            <a:avLst>
              <a:gd name="adj" fmla="val 13436980"/>
            </a:avLst>
          </a:prstGeom>
          <a:solidFill>
            <a:srgbClr val="4950BC"/>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50148" y="2340769"/>
            <a:ext cx="306110" cy="306110"/>
          </a:xfrm>
          <a:prstGeom prst="rect">
            <a:avLst/>
          </a:prstGeom>
        </p:spPr>
      </p:pic>
      <p:sp>
        <p:nvSpPr>
          <p:cNvPr id="11" name="Text 7"/>
          <p:cNvSpPr/>
          <p:nvPr/>
        </p:nvSpPr>
        <p:spPr>
          <a:xfrm>
            <a:off x="7662982" y="306097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Small Gearbox</a:t>
            </a:r>
            <a:endParaRPr lang="en-US" sz="2200" dirty="0"/>
          </a:p>
        </p:txBody>
      </p:sp>
      <p:sp>
        <p:nvSpPr>
          <p:cNvPr id="12" name="Text 8"/>
          <p:cNvSpPr/>
          <p:nvPr/>
        </p:nvSpPr>
        <p:spPr>
          <a:xfrm>
            <a:off x="7662982" y="3551396"/>
            <a:ext cx="593919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Optimized for smooth power delivery and efficient torque conversion in a compact form factor.</a:t>
            </a:r>
            <a:endParaRPr lang="en-US" sz="1750" dirty="0"/>
          </a:p>
        </p:txBody>
      </p:sp>
      <p:sp>
        <p:nvSpPr>
          <p:cNvPr id="13" name="Shape 9"/>
          <p:cNvSpPr/>
          <p:nvPr/>
        </p:nvSpPr>
        <p:spPr>
          <a:xfrm>
            <a:off x="793790" y="4738449"/>
            <a:ext cx="6407944" cy="2592348"/>
          </a:xfrm>
          <a:prstGeom prst="roundRect">
            <a:avLst>
              <a:gd name="adj" fmla="val 3675"/>
            </a:avLst>
          </a:prstGeom>
          <a:solidFill>
            <a:srgbClr val="DADBF1"/>
          </a:solidFill>
          <a:ln w="7620">
            <a:solidFill>
              <a:srgbClr val="C0C1D7"/>
            </a:solidFill>
            <a:prstDash val="solid"/>
          </a:ln>
        </p:spPr>
      </p:sp>
      <p:sp>
        <p:nvSpPr>
          <p:cNvPr id="14" name="Shape 10"/>
          <p:cNvSpPr/>
          <p:nvPr/>
        </p:nvSpPr>
        <p:spPr>
          <a:xfrm>
            <a:off x="1028224" y="4972883"/>
            <a:ext cx="680442" cy="680442"/>
          </a:xfrm>
          <a:prstGeom prst="roundRect">
            <a:avLst>
              <a:gd name="adj" fmla="val 13436980"/>
            </a:avLst>
          </a:prstGeom>
          <a:solidFill>
            <a:srgbClr val="4950BC"/>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15390" y="5159931"/>
            <a:ext cx="306110" cy="306110"/>
          </a:xfrm>
          <a:prstGeom prst="rect">
            <a:avLst/>
          </a:prstGeom>
        </p:spPr>
      </p:pic>
      <p:sp>
        <p:nvSpPr>
          <p:cNvPr id="16" name="Text 11"/>
          <p:cNvSpPr/>
          <p:nvPr/>
        </p:nvSpPr>
        <p:spPr>
          <a:xfrm>
            <a:off x="1028224" y="588014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ESP8266 Controls</a:t>
            </a:r>
            <a:endParaRPr lang="en-US" sz="2200" dirty="0"/>
          </a:p>
        </p:txBody>
      </p:sp>
      <p:sp>
        <p:nvSpPr>
          <p:cNvPr id="17" name="Text 12"/>
          <p:cNvSpPr/>
          <p:nvPr/>
        </p:nvSpPr>
        <p:spPr>
          <a:xfrm>
            <a:off x="1028224" y="6370558"/>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Embedded wireless controls for intelligent management and remote interaction.</a:t>
            </a:r>
            <a:endParaRPr lang="en-US" sz="1750" dirty="0"/>
          </a:p>
        </p:txBody>
      </p:sp>
      <p:sp>
        <p:nvSpPr>
          <p:cNvPr id="18" name="Shape 13"/>
          <p:cNvSpPr/>
          <p:nvPr/>
        </p:nvSpPr>
        <p:spPr>
          <a:xfrm>
            <a:off x="7428548" y="4738449"/>
            <a:ext cx="6408063" cy="2592348"/>
          </a:xfrm>
          <a:prstGeom prst="roundRect">
            <a:avLst>
              <a:gd name="adj" fmla="val 3675"/>
            </a:avLst>
          </a:prstGeom>
          <a:solidFill>
            <a:srgbClr val="DADBF1"/>
          </a:solidFill>
          <a:ln w="7620">
            <a:solidFill>
              <a:srgbClr val="C0C1D7"/>
            </a:solidFill>
            <a:prstDash val="solid"/>
          </a:ln>
        </p:spPr>
      </p:sp>
      <p:sp>
        <p:nvSpPr>
          <p:cNvPr id="19" name="Shape 14"/>
          <p:cNvSpPr/>
          <p:nvPr/>
        </p:nvSpPr>
        <p:spPr>
          <a:xfrm>
            <a:off x="7662982" y="4972883"/>
            <a:ext cx="680442" cy="680442"/>
          </a:xfrm>
          <a:prstGeom prst="roundRect">
            <a:avLst>
              <a:gd name="adj" fmla="val 13436980"/>
            </a:avLst>
          </a:prstGeom>
          <a:solidFill>
            <a:srgbClr val="4950BC"/>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50148" y="5159931"/>
            <a:ext cx="306110" cy="306110"/>
          </a:xfrm>
          <a:prstGeom prst="rect">
            <a:avLst/>
          </a:prstGeom>
        </p:spPr>
      </p:pic>
      <p:sp>
        <p:nvSpPr>
          <p:cNvPr id="21" name="Text 15"/>
          <p:cNvSpPr/>
          <p:nvPr/>
        </p:nvSpPr>
        <p:spPr>
          <a:xfrm>
            <a:off x="7662982" y="5880140"/>
            <a:ext cx="293929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Active Battery Safety</a:t>
            </a:r>
            <a:endParaRPr lang="en-US" sz="2200" dirty="0"/>
          </a:p>
        </p:txBody>
      </p:sp>
      <p:sp>
        <p:nvSpPr>
          <p:cNvPr id="22" name="Text 16"/>
          <p:cNvSpPr/>
          <p:nvPr/>
        </p:nvSpPr>
        <p:spPr>
          <a:xfrm>
            <a:off x="7662982" y="6370558"/>
            <a:ext cx="593919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Integrated safety mechanisms, including a unique battery ejection system, for paramount security.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9844" y="518398"/>
            <a:ext cx="7600236" cy="471249"/>
          </a:xfrm>
          <a:prstGeom prst="rect">
            <a:avLst/>
          </a:prstGeom>
          <a:noFill/>
          <a:ln/>
        </p:spPr>
        <p:txBody>
          <a:bodyPr wrap="none" lIns="0" tIns="0" rIns="0" bIns="0" rtlCol="0" anchor="t"/>
          <a:lstStyle/>
          <a:p>
            <a:pPr marL="0" indent="0" algn="l">
              <a:lnSpc>
                <a:spcPts val="3700"/>
              </a:lnSpc>
              <a:buNone/>
            </a:pPr>
            <a:r>
              <a:rPr lang="en-US" sz="2950" b="1" dirty="0">
                <a:solidFill>
                  <a:srgbClr val="000000"/>
                </a:solidFill>
                <a:latin typeface="Inter Bold" pitchFamily="34" charset="0"/>
                <a:ea typeface="Inter Bold" pitchFamily="34" charset="-122"/>
                <a:cs typeface="Inter Bold" pitchFamily="34" charset="-120"/>
              </a:rPr>
              <a:t>System Architecture: A Unified Approach</a:t>
            </a:r>
            <a:endParaRPr lang="en-US" sz="2950" dirty="0"/>
          </a:p>
        </p:txBody>
      </p:sp>
      <p:sp>
        <p:nvSpPr>
          <p:cNvPr id="3" name="Text 1"/>
          <p:cNvSpPr/>
          <p:nvPr/>
        </p:nvSpPr>
        <p:spPr>
          <a:xfrm>
            <a:off x="693298" y="1100280"/>
            <a:ext cx="13310711" cy="602933"/>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Our EV platform integrates mechanical, electrical, and embedded modules into a cohesive, easily manageable system. This modular design emphasizes interchangeability and ease of maintenance, crucial for both educational settings and rapid prototyping.</a:t>
            </a:r>
            <a:endParaRPr lang="en-US" sz="1450" dirty="0"/>
          </a:p>
        </p:txBody>
      </p:sp>
      <p:pic>
        <p:nvPicPr>
          <p:cNvPr id="4" name="Image 0" descr="preencoded.png"/>
          <p:cNvPicPr>
            <a:picLocks noChangeAspect="1"/>
          </p:cNvPicPr>
          <p:nvPr/>
        </p:nvPicPr>
        <p:blipFill>
          <a:blip r:embed="rId3"/>
          <a:stretch>
            <a:fillRect/>
          </a:stretch>
        </p:blipFill>
        <p:spPr>
          <a:xfrm>
            <a:off x="3214211" y="2284274"/>
            <a:ext cx="8596432" cy="5979854"/>
          </a:xfrm>
          <a:prstGeom prst="rect">
            <a:avLst/>
          </a:prstGeom>
        </p:spPr>
      </p:pic>
      <p:sp>
        <p:nvSpPr>
          <p:cNvPr id="5" name="Text 2"/>
          <p:cNvSpPr/>
          <p:nvPr/>
        </p:nvSpPr>
        <p:spPr>
          <a:xfrm>
            <a:off x="6475236" y="4375155"/>
            <a:ext cx="1637169" cy="1497410"/>
          </a:xfrm>
          <a:prstGeom prst="rect">
            <a:avLst/>
          </a:prstGeom>
          <a:noFill/>
          <a:ln/>
        </p:spPr>
        <p:txBody>
          <a:bodyPr wrap="square" lIns="0" tIns="0" rIns="0" bIns="0" rtlCol="0" anchor="t"/>
          <a:lstStyle/>
          <a:p>
            <a:pPr marL="0" indent="0" algn="ctr">
              <a:lnSpc>
                <a:spcPts val="1650"/>
              </a:lnSpc>
              <a:buNone/>
            </a:pPr>
            <a:r>
              <a:rPr lang="en-US" sz="1350" b="1" dirty="0">
                <a:solidFill>
                  <a:srgbClr val="FFFFFF"/>
                </a:solidFill>
                <a:latin typeface="Inter Bold" pitchFamily="34" charset="0"/>
                <a:ea typeface="Inter Bold" pitchFamily="34" charset="-122"/>
                <a:cs typeface="Inter Bold" pitchFamily="34" charset="-120"/>
              </a:rPr>
              <a:t>Modularity and Easy Maintenance</a:t>
            </a:r>
            <a:endParaRPr lang="en-US" sz="1350" dirty="0"/>
          </a:p>
        </p:txBody>
      </p:sp>
      <p:sp>
        <p:nvSpPr>
          <p:cNvPr id="6" name="Text 3"/>
          <p:cNvSpPr/>
          <p:nvPr/>
        </p:nvSpPr>
        <p:spPr>
          <a:xfrm>
            <a:off x="8922046" y="6293295"/>
            <a:ext cx="2435579" cy="748705"/>
          </a:xfrm>
          <a:prstGeom prst="rect">
            <a:avLst/>
          </a:prstGeom>
          <a:noFill/>
          <a:ln/>
        </p:spPr>
        <p:txBody>
          <a:bodyPr wrap="square" lIns="0" tIns="0" rIns="0" bIns="0" rtlCol="0" anchor="t"/>
          <a:lstStyle/>
          <a:p>
            <a:pPr marL="0" indent="0" algn="ctr">
              <a:lnSpc>
                <a:spcPts val="1650"/>
              </a:lnSpc>
              <a:buNone/>
            </a:pPr>
            <a:r>
              <a:rPr lang="en-US" sz="1350" b="1" dirty="0">
                <a:solidFill>
                  <a:srgbClr val="272525"/>
                </a:solidFill>
                <a:latin typeface="Inter Bold" pitchFamily="34" charset="0"/>
                <a:ea typeface="Inter Bold" pitchFamily="34" charset="-122"/>
                <a:cs typeface="Inter Bold" pitchFamily="34" charset="-120"/>
              </a:rPr>
              <a:t>Compact Gearbox</a:t>
            </a:r>
            <a:endParaRPr lang="en-US" sz="1350" dirty="0"/>
          </a:p>
        </p:txBody>
      </p:sp>
      <p:sp>
        <p:nvSpPr>
          <p:cNvPr id="7" name="Text 4"/>
          <p:cNvSpPr/>
          <p:nvPr/>
        </p:nvSpPr>
        <p:spPr>
          <a:xfrm>
            <a:off x="8922046" y="7148483"/>
            <a:ext cx="2435579" cy="598964"/>
          </a:xfrm>
          <a:prstGeom prst="rect">
            <a:avLst/>
          </a:prstGeom>
          <a:noFill/>
          <a:ln/>
        </p:spPr>
        <p:txBody>
          <a:bodyPr wrap="square" lIns="0" tIns="0" rIns="0" bIns="0" rtlCol="0" anchor="t"/>
          <a:lstStyle/>
          <a:p>
            <a:pPr marL="0" indent="0" algn="ctr">
              <a:lnSpc>
                <a:spcPts val="1350"/>
              </a:lnSpc>
              <a:buNone/>
            </a:pPr>
            <a:r>
              <a:rPr lang="en-US" sz="1050" dirty="0">
                <a:solidFill>
                  <a:srgbClr val="272525"/>
                </a:solidFill>
                <a:latin typeface="Inter" pitchFamily="34" charset="0"/>
                <a:ea typeface="Inter" pitchFamily="34" charset="-122"/>
                <a:cs typeface="Inter" pitchFamily="34" charset="-120"/>
              </a:rPr>
              <a:t>Quick-remove mechanical unit</a:t>
            </a:r>
            <a:endParaRPr lang="en-US" sz="1050" dirty="0"/>
          </a:p>
        </p:txBody>
      </p:sp>
      <p:sp>
        <p:nvSpPr>
          <p:cNvPr id="8" name="Text 5"/>
          <p:cNvSpPr/>
          <p:nvPr/>
        </p:nvSpPr>
        <p:spPr>
          <a:xfrm>
            <a:off x="3214211" y="6106327"/>
            <a:ext cx="2435579" cy="1123057"/>
          </a:xfrm>
          <a:prstGeom prst="rect">
            <a:avLst/>
          </a:prstGeom>
          <a:noFill/>
          <a:ln/>
        </p:spPr>
        <p:txBody>
          <a:bodyPr wrap="square" lIns="0" tIns="0" rIns="0" bIns="0" rtlCol="0" anchor="t"/>
          <a:lstStyle/>
          <a:p>
            <a:pPr marL="0" indent="0" algn="ctr">
              <a:lnSpc>
                <a:spcPts val="1650"/>
              </a:lnSpc>
              <a:buNone/>
            </a:pPr>
            <a:r>
              <a:rPr lang="en-US" sz="1350" b="1" dirty="0">
                <a:solidFill>
                  <a:srgbClr val="272525"/>
                </a:solidFill>
                <a:latin typeface="Inter Bold" pitchFamily="34" charset="0"/>
                <a:ea typeface="Inter Bold" pitchFamily="34" charset="-122"/>
                <a:cs typeface="Inter Bold" pitchFamily="34" charset="-120"/>
              </a:rPr>
              <a:t>ESP8266 Wireless Module</a:t>
            </a:r>
            <a:endParaRPr lang="en-US" sz="1350" dirty="0"/>
          </a:p>
        </p:txBody>
      </p:sp>
      <p:sp>
        <p:nvSpPr>
          <p:cNvPr id="9" name="Text 6"/>
          <p:cNvSpPr/>
          <p:nvPr/>
        </p:nvSpPr>
        <p:spPr>
          <a:xfrm>
            <a:off x="3214211" y="7335867"/>
            <a:ext cx="2435579" cy="598964"/>
          </a:xfrm>
          <a:prstGeom prst="rect">
            <a:avLst/>
          </a:prstGeom>
          <a:noFill/>
          <a:ln/>
        </p:spPr>
        <p:txBody>
          <a:bodyPr wrap="square" lIns="0" tIns="0" rIns="0" bIns="0" rtlCol="0" anchor="t"/>
          <a:lstStyle/>
          <a:p>
            <a:pPr marL="0" indent="0" algn="ctr">
              <a:lnSpc>
                <a:spcPts val="1350"/>
              </a:lnSpc>
              <a:buNone/>
            </a:pPr>
            <a:r>
              <a:rPr lang="en-US" sz="1050" dirty="0">
                <a:solidFill>
                  <a:srgbClr val="272525"/>
                </a:solidFill>
                <a:latin typeface="Inter" pitchFamily="34" charset="0"/>
                <a:ea typeface="Inter" pitchFamily="34" charset="-122"/>
                <a:cs typeface="Inter" pitchFamily="34" charset="-120"/>
              </a:rPr>
              <a:t>Remote diagnostics interface</a:t>
            </a:r>
            <a:endParaRPr lang="en-US" sz="1050" dirty="0"/>
          </a:p>
        </p:txBody>
      </p:sp>
      <p:sp>
        <p:nvSpPr>
          <p:cNvPr id="10" name="Text 7"/>
          <p:cNvSpPr/>
          <p:nvPr/>
        </p:nvSpPr>
        <p:spPr>
          <a:xfrm>
            <a:off x="3214211" y="2686201"/>
            <a:ext cx="2435579" cy="748705"/>
          </a:xfrm>
          <a:prstGeom prst="rect">
            <a:avLst/>
          </a:prstGeom>
          <a:noFill/>
          <a:ln/>
        </p:spPr>
        <p:txBody>
          <a:bodyPr wrap="square" lIns="0" tIns="0" rIns="0" bIns="0" rtlCol="0" anchor="t"/>
          <a:lstStyle/>
          <a:p>
            <a:pPr marL="0" indent="0" algn="ctr">
              <a:lnSpc>
                <a:spcPts val="1650"/>
              </a:lnSpc>
              <a:buNone/>
            </a:pPr>
            <a:r>
              <a:rPr lang="en-US" sz="1350" b="1" dirty="0">
                <a:solidFill>
                  <a:srgbClr val="272525"/>
                </a:solidFill>
                <a:latin typeface="Inter Bold" pitchFamily="34" charset="0"/>
                <a:ea typeface="Inter Bold" pitchFamily="34" charset="-122"/>
                <a:cs typeface="Inter Bold" pitchFamily="34" charset="-120"/>
              </a:rPr>
              <a:t>Battery Ejection System</a:t>
            </a:r>
            <a:endParaRPr lang="en-US" sz="1350" dirty="0"/>
          </a:p>
        </p:txBody>
      </p:sp>
      <p:sp>
        <p:nvSpPr>
          <p:cNvPr id="11" name="Text 8"/>
          <p:cNvSpPr/>
          <p:nvPr/>
        </p:nvSpPr>
        <p:spPr>
          <a:xfrm>
            <a:off x="3214211" y="3541388"/>
            <a:ext cx="2435579" cy="598964"/>
          </a:xfrm>
          <a:prstGeom prst="rect">
            <a:avLst/>
          </a:prstGeom>
          <a:noFill/>
          <a:ln/>
        </p:spPr>
        <p:txBody>
          <a:bodyPr wrap="square" lIns="0" tIns="0" rIns="0" bIns="0" rtlCol="0" anchor="t"/>
          <a:lstStyle/>
          <a:p>
            <a:pPr marL="0" indent="0" algn="ctr">
              <a:lnSpc>
                <a:spcPts val="1350"/>
              </a:lnSpc>
              <a:buNone/>
            </a:pPr>
            <a:r>
              <a:rPr lang="en-US" sz="1050" dirty="0">
                <a:solidFill>
                  <a:srgbClr val="272525"/>
                </a:solidFill>
                <a:latin typeface="Inter" pitchFamily="34" charset="0"/>
                <a:ea typeface="Inter" pitchFamily="34" charset="-122"/>
                <a:cs typeface="Inter" pitchFamily="34" charset="-120"/>
              </a:rPr>
              <a:t>Rapid safe removal mechanism</a:t>
            </a:r>
            <a:endParaRPr lang="en-US" sz="1050" dirty="0"/>
          </a:p>
        </p:txBody>
      </p:sp>
      <p:sp>
        <p:nvSpPr>
          <p:cNvPr id="12" name="Text 9"/>
          <p:cNvSpPr/>
          <p:nvPr/>
        </p:nvSpPr>
        <p:spPr>
          <a:xfrm>
            <a:off x="8937644" y="2686201"/>
            <a:ext cx="2435579" cy="748705"/>
          </a:xfrm>
          <a:prstGeom prst="rect">
            <a:avLst/>
          </a:prstGeom>
          <a:noFill/>
          <a:ln/>
        </p:spPr>
        <p:txBody>
          <a:bodyPr wrap="square" lIns="0" tIns="0" rIns="0" bIns="0" rtlCol="0" anchor="t"/>
          <a:lstStyle/>
          <a:p>
            <a:pPr marL="0" indent="0" algn="ctr">
              <a:lnSpc>
                <a:spcPts val="1650"/>
              </a:lnSpc>
              <a:buNone/>
            </a:pPr>
            <a:r>
              <a:rPr lang="en-US" sz="1350" b="1" dirty="0">
                <a:solidFill>
                  <a:srgbClr val="272525"/>
                </a:solidFill>
                <a:latin typeface="Inter Bold" pitchFamily="34" charset="0"/>
                <a:ea typeface="Inter Bold" pitchFamily="34" charset="-122"/>
                <a:cs typeface="Inter Bold" pitchFamily="34" charset="-120"/>
              </a:rPr>
              <a:t>Modular Battery Pack</a:t>
            </a:r>
            <a:endParaRPr lang="en-US" sz="1350" dirty="0"/>
          </a:p>
        </p:txBody>
      </p:sp>
      <p:sp>
        <p:nvSpPr>
          <p:cNvPr id="13" name="Text 10"/>
          <p:cNvSpPr/>
          <p:nvPr/>
        </p:nvSpPr>
        <p:spPr>
          <a:xfrm>
            <a:off x="8937644" y="3541388"/>
            <a:ext cx="2435579" cy="598964"/>
          </a:xfrm>
          <a:prstGeom prst="rect">
            <a:avLst/>
          </a:prstGeom>
          <a:noFill/>
          <a:ln/>
        </p:spPr>
        <p:txBody>
          <a:bodyPr wrap="square" lIns="0" tIns="0" rIns="0" bIns="0" rtlCol="0" anchor="t"/>
          <a:lstStyle/>
          <a:p>
            <a:pPr marL="0" indent="0" algn="ctr">
              <a:lnSpc>
                <a:spcPts val="1350"/>
              </a:lnSpc>
              <a:buNone/>
            </a:pPr>
            <a:r>
              <a:rPr lang="en-US" sz="1050" dirty="0">
                <a:solidFill>
                  <a:srgbClr val="272525"/>
                </a:solidFill>
                <a:latin typeface="Inter" pitchFamily="34" charset="0"/>
                <a:ea typeface="Inter" pitchFamily="34" charset="-122"/>
                <a:cs typeface="Inter" pitchFamily="34" charset="-120"/>
              </a:rPr>
              <a:t>Hot-swappable power module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63573"/>
            <a:ext cx="6822877"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Advanced Battery Pack Design</a:t>
            </a:r>
            <a:endParaRPr lang="en-US" sz="3550" dirty="0"/>
          </a:p>
        </p:txBody>
      </p:sp>
      <p:sp>
        <p:nvSpPr>
          <p:cNvPr id="3" name="Text 1"/>
          <p:cNvSpPr/>
          <p:nvPr/>
        </p:nvSpPr>
        <p:spPr>
          <a:xfrm>
            <a:off x="793790" y="2074783"/>
            <a:ext cx="7604284"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heart of our EV is an advanced battery pack, utilizing 3.7V lithium-ion cells configured as a 4S2P array to deliver 12V and 5A output. This configuration balances power and longevity. An advanced Battery Management System (BMS) rigorously monitors and controls the pack, ensuring safe and optimal performance.</a:t>
            </a:r>
            <a:endParaRPr lang="en-US" sz="1750" dirty="0"/>
          </a:p>
        </p:txBody>
      </p:sp>
      <p:sp>
        <p:nvSpPr>
          <p:cNvPr id="4" name="Text 2"/>
          <p:cNvSpPr/>
          <p:nvPr/>
        </p:nvSpPr>
        <p:spPr>
          <a:xfrm>
            <a:off x="793790" y="4093369"/>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Scalable:</a:t>
            </a:r>
            <a:r>
              <a:rPr lang="en-US" sz="1750" dirty="0">
                <a:solidFill>
                  <a:srgbClr val="272525"/>
                </a:solidFill>
                <a:latin typeface="Inter" pitchFamily="34" charset="0"/>
                <a:ea typeface="Inter" pitchFamily="34" charset="-122"/>
                <a:cs typeface="Inter" pitchFamily="34" charset="-120"/>
              </a:rPr>
              <a:t> Easily expandable for diverse power requirements.</a:t>
            </a:r>
            <a:endParaRPr lang="en-US" sz="1750" dirty="0"/>
          </a:p>
        </p:txBody>
      </p:sp>
      <p:sp>
        <p:nvSpPr>
          <p:cNvPr id="5" name="Text 3"/>
          <p:cNvSpPr/>
          <p:nvPr/>
        </p:nvSpPr>
        <p:spPr>
          <a:xfrm>
            <a:off x="793790" y="4535567"/>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High Energy Density:</a:t>
            </a:r>
            <a:r>
              <a:rPr lang="en-US" sz="1750" dirty="0">
                <a:solidFill>
                  <a:srgbClr val="272525"/>
                </a:solidFill>
                <a:latin typeface="Inter" pitchFamily="34" charset="0"/>
                <a:ea typeface="Inter" pitchFamily="34" charset="-122"/>
                <a:cs typeface="Inter" pitchFamily="34" charset="-120"/>
              </a:rPr>
              <a:t> Maximizes power in a compact size.</a:t>
            </a:r>
            <a:endParaRPr lang="en-US" sz="1750" dirty="0"/>
          </a:p>
        </p:txBody>
      </p:sp>
      <p:sp>
        <p:nvSpPr>
          <p:cNvPr id="6" name="Text 4"/>
          <p:cNvSpPr/>
          <p:nvPr/>
        </p:nvSpPr>
        <p:spPr>
          <a:xfrm>
            <a:off x="793790" y="4977765"/>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Efficient:</a:t>
            </a:r>
            <a:r>
              <a:rPr lang="en-US" sz="1750" dirty="0">
                <a:solidFill>
                  <a:srgbClr val="272525"/>
                </a:solidFill>
                <a:latin typeface="Inter" pitchFamily="34" charset="0"/>
                <a:ea typeface="Inter" pitchFamily="34" charset="-122"/>
                <a:cs typeface="Inter" pitchFamily="34" charset="-120"/>
              </a:rPr>
              <a:t> Optimized for minimal energy loss during operation.</a:t>
            </a:r>
            <a:endParaRPr lang="en-US" sz="1750" dirty="0"/>
          </a:p>
        </p:txBody>
      </p:sp>
      <p:sp>
        <p:nvSpPr>
          <p:cNvPr id="7" name="Text 5"/>
          <p:cNvSpPr/>
          <p:nvPr/>
        </p:nvSpPr>
        <p:spPr>
          <a:xfrm>
            <a:off x="793790" y="5419963"/>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Long Life Cycle:</a:t>
            </a:r>
            <a:r>
              <a:rPr lang="en-US" sz="1750" dirty="0">
                <a:solidFill>
                  <a:srgbClr val="272525"/>
                </a:solidFill>
                <a:latin typeface="Inter" pitchFamily="34" charset="0"/>
                <a:ea typeface="Inter" pitchFamily="34" charset="-122"/>
                <a:cs typeface="Inter" pitchFamily="34" charset="-120"/>
              </a:rPr>
              <a:t> Designed for durability and sustained performance.</a:t>
            </a:r>
            <a:endParaRPr lang="en-US" sz="1750" dirty="0"/>
          </a:p>
        </p:txBody>
      </p:sp>
      <p:pic>
        <p:nvPicPr>
          <p:cNvPr id="10" name="Picture 9">
            <a:extLst>
              <a:ext uri="{FF2B5EF4-FFF2-40B4-BE49-F238E27FC236}">
                <a16:creationId xmlns:a16="http://schemas.microsoft.com/office/drawing/2014/main" id="{4431AB8B-5FAA-02DB-E483-E81B66D22689}"/>
              </a:ext>
            </a:extLst>
          </p:cNvPr>
          <p:cNvPicPr>
            <a:picLocks noChangeAspect="1"/>
          </p:cNvPicPr>
          <p:nvPr/>
        </p:nvPicPr>
        <p:blipFill>
          <a:blip r:embed="rId3"/>
          <a:stretch>
            <a:fillRect/>
          </a:stretch>
        </p:blipFill>
        <p:spPr>
          <a:xfrm>
            <a:off x="9100353" y="70338"/>
            <a:ext cx="4629150" cy="822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36759"/>
            <a:ext cx="9560957"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Active Safety: Battery Protection &amp; Ejection</a:t>
            </a:r>
            <a:endParaRPr lang="en-US" sz="3550" dirty="0"/>
          </a:p>
        </p:txBody>
      </p:sp>
      <p:sp>
        <p:nvSpPr>
          <p:cNvPr id="3" name="Text 1"/>
          <p:cNvSpPr/>
          <p:nvPr/>
        </p:nvSpPr>
        <p:spPr>
          <a:xfrm>
            <a:off x="793790" y="1757363"/>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Safety is paramount. Our system incorporates an active thermal management and ejection mechanism to prevent critical failures. An LM35 temperature sensor continuously monitors battery heat, while an ESP8266 microcontroller stands ready to act.</a:t>
            </a:r>
            <a:endParaRPr lang="en-US" sz="1750" dirty="0"/>
          </a:p>
        </p:txBody>
      </p:sp>
      <p:pic>
        <p:nvPicPr>
          <p:cNvPr id="4" name="Image 0" descr="preencoded.png"/>
          <p:cNvPicPr>
            <a:picLocks noChangeAspect="1"/>
          </p:cNvPicPr>
          <p:nvPr/>
        </p:nvPicPr>
        <p:blipFill>
          <a:blip r:embed="rId3"/>
          <a:stretch>
            <a:fillRect/>
          </a:stretch>
        </p:blipFill>
        <p:spPr>
          <a:xfrm>
            <a:off x="793790" y="3101221"/>
            <a:ext cx="1134070" cy="1360884"/>
          </a:xfrm>
          <a:prstGeom prst="rect">
            <a:avLst/>
          </a:prstGeom>
        </p:spPr>
      </p:pic>
      <p:sp>
        <p:nvSpPr>
          <p:cNvPr id="5" name="Text 2"/>
          <p:cNvSpPr/>
          <p:nvPr/>
        </p:nvSpPr>
        <p:spPr>
          <a:xfrm>
            <a:off x="2154674" y="3328035"/>
            <a:ext cx="335720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Temperature Monitoring</a:t>
            </a:r>
            <a:endParaRPr lang="en-US" sz="2200" dirty="0"/>
          </a:p>
        </p:txBody>
      </p:sp>
      <p:sp>
        <p:nvSpPr>
          <p:cNvPr id="6" name="Text 3"/>
          <p:cNvSpPr/>
          <p:nvPr/>
        </p:nvSpPr>
        <p:spPr>
          <a:xfrm>
            <a:off x="2154674" y="3818453"/>
            <a:ext cx="1168193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LM35 sensor detects overheating, triggering immediate safety protocols.</a:t>
            </a:r>
            <a:endParaRPr lang="en-US" sz="1750" dirty="0"/>
          </a:p>
        </p:txBody>
      </p:sp>
      <p:pic>
        <p:nvPicPr>
          <p:cNvPr id="7" name="Image 1" descr="preencoded.png"/>
          <p:cNvPicPr>
            <a:picLocks noChangeAspect="1"/>
          </p:cNvPicPr>
          <p:nvPr/>
        </p:nvPicPr>
        <p:blipFill>
          <a:blip r:embed="rId4"/>
          <a:stretch>
            <a:fillRect/>
          </a:stretch>
        </p:blipFill>
        <p:spPr>
          <a:xfrm>
            <a:off x="793790" y="4462105"/>
            <a:ext cx="1134070" cy="1360884"/>
          </a:xfrm>
          <a:prstGeom prst="rect">
            <a:avLst/>
          </a:prstGeom>
        </p:spPr>
      </p:pic>
      <p:sp>
        <p:nvSpPr>
          <p:cNvPr id="8" name="Text 4"/>
          <p:cNvSpPr/>
          <p:nvPr/>
        </p:nvSpPr>
        <p:spPr>
          <a:xfrm>
            <a:off x="2154674" y="4688919"/>
            <a:ext cx="30257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ESP8266 Intervention</a:t>
            </a:r>
            <a:endParaRPr lang="en-US" sz="2200" dirty="0"/>
          </a:p>
        </p:txBody>
      </p:sp>
      <p:sp>
        <p:nvSpPr>
          <p:cNvPr id="9" name="Text 5"/>
          <p:cNvSpPr/>
          <p:nvPr/>
        </p:nvSpPr>
        <p:spPr>
          <a:xfrm>
            <a:off x="2154674" y="5179338"/>
            <a:ext cx="1168193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Upon fault detection, the microcontroller activates a servo-based system.</a:t>
            </a:r>
            <a:endParaRPr lang="en-US" sz="1750" dirty="0"/>
          </a:p>
        </p:txBody>
      </p:sp>
      <p:pic>
        <p:nvPicPr>
          <p:cNvPr id="10" name="Image 2" descr="preencoded.png"/>
          <p:cNvPicPr>
            <a:picLocks noChangeAspect="1"/>
          </p:cNvPicPr>
          <p:nvPr/>
        </p:nvPicPr>
        <p:blipFill>
          <a:blip r:embed="rId5"/>
          <a:stretch>
            <a:fillRect/>
          </a:stretch>
        </p:blipFill>
        <p:spPr>
          <a:xfrm>
            <a:off x="793790" y="5822990"/>
            <a:ext cx="1134070" cy="1669852"/>
          </a:xfrm>
          <a:prstGeom prst="rect">
            <a:avLst/>
          </a:prstGeom>
        </p:spPr>
      </p:pic>
      <p:sp>
        <p:nvSpPr>
          <p:cNvPr id="11" name="Text 6"/>
          <p:cNvSpPr/>
          <p:nvPr/>
        </p:nvSpPr>
        <p:spPr>
          <a:xfrm>
            <a:off x="2154674" y="604980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Automated Ejection</a:t>
            </a:r>
            <a:endParaRPr lang="en-US" sz="2200" dirty="0"/>
          </a:p>
        </p:txBody>
      </p:sp>
      <p:sp>
        <p:nvSpPr>
          <p:cNvPr id="12" name="Text 7"/>
          <p:cNvSpPr/>
          <p:nvPr/>
        </p:nvSpPr>
        <p:spPr>
          <a:xfrm>
            <a:off x="2154674" y="6540222"/>
            <a:ext cx="1168193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battery pack is swiftly ejected, isolating the power source and preventing hazards, also enabling quick swaps.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3426" y="576263"/>
            <a:ext cx="4963990" cy="1026795"/>
          </a:xfrm>
          <a:prstGeom prst="rect">
            <a:avLst/>
          </a:prstGeom>
          <a:noFill/>
          <a:ln/>
        </p:spPr>
        <p:txBody>
          <a:bodyPr wrap="none" lIns="0" tIns="0" rIns="0" bIns="0" rtlCol="0" anchor="t"/>
          <a:lstStyle/>
          <a:p>
            <a:pPr marL="0" indent="0" algn="l">
              <a:lnSpc>
                <a:spcPts val="4100"/>
              </a:lnSpc>
              <a:buNone/>
            </a:pPr>
            <a:r>
              <a:rPr lang="en-US" sz="3300" b="1" dirty="0">
                <a:solidFill>
                  <a:srgbClr val="000000"/>
                </a:solidFill>
                <a:latin typeface="Inter Bold" pitchFamily="34" charset="0"/>
                <a:ea typeface="Inter Bold" pitchFamily="34" charset="-122"/>
                <a:cs typeface="Inter Bold" pitchFamily="34" charset="-120"/>
              </a:rPr>
              <a:t>Precision Engineering: </a:t>
            </a:r>
          </a:p>
          <a:p>
            <a:pPr marL="0" indent="0" algn="l">
              <a:lnSpc>
                <a:spcPts val="4100"/>
              </a:lnSpc>
              <a:buNone/>
            </a:pPr>
            <a:r>
              <a:rPr lang="en-US" sz="3300" b="1" dirty="0">
                <a:solidFill>
                  <a:srgbClr val="000000"/>
                </a:solidFill>
                <a:latin typeface="Inter Bold" pitchFamily="34" charset="0"/>
                <a:ea typeface="Inter Bold" pitchFamily="34" charset="-122"/>
                <a:cs typeface="Inter Bold" pitchFamily="34" charset="-120"/>
              </a:rPr>
              <a:t>Gear Mechanism Design</a:t>
            </a:r>
            <a:endParaRPr lang="en-US" sz="3300" dirty="0"/>
          </a:p>
        </p:txBody>
      </p:sp>
      <p:sp>
        <p:nvSpPr>
          <p:cNvPr id="3" name="Text 1"/>
          <p:cNvSpPr/>
          <p:nvPr/>
        </p:nvSpPr>
        <p:spPr>
          <a:xfrm>
            <a:off x="733425" y="1603058"/>
            <a:ext cx="6326148" cy="1676400"/>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The compact gearbox is meticulously designed to modulate torque and speed, ensuring a smooth and responsive power transfer from the motor to the wheels. Gear ratios are carefully optimized for both initial launch torque and efficient cruising, providing a balanced performance profile.</a:t>
            </a:r>
            <a:endParaRPr lang="en-US" sz="1650" dirty="0"/>
          </a:p>
        </p:txBody>
      </p:sp>
      <p:sp>
        <p:nvSpPr>
          <p:cNvPr id="4" name="Text 2"/>
          <p:cNvSpPr/>
          <p:nvPr/>
        </p:nvSpPr>
        <p:spPr>
          <a:xfrm>
            <a:off x="733425" y="3468052"/>
            <a:ext cx="6326148" cy="1341120"/>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Its modular design not only enhances serviceability but also allows for easy adaptation to different motor types or vehicle specifications, making it an ideal component for prototyping and iterative design.</a:t>
            </a:r>
            <a:endParaRPr lang="en-US" sz="1650" dirty="0"/>
          </a:p>
        </p:txBody>
      </p:sp>
      <p:pic>
        <p:nvPicPr>
          <p:cNvPr id="1026" name="Picture 2" descr="How does a differential gear work? | tec-science">
            <a:extLst>
              <a:ext uri="{FF2B5EF4-FFF2-40B4-BE49-F238E27FC236}">
                <a16:creationId xmlns:a16="http://schemas.microsoft.com/office/drawing/2014/main" id="{BC726C43-60C1-06B1-F059-0D7E81750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0827" y="348707"/>
            <a:ext cx="6791943" cy="34204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C1330B8-DD19-0F71-DEFD-DC5C72B4B363}"/>
              </a:ext>
            </a:extLst>
          </p:cNvPr>
          <p:cNvPicPr>
            <a:picLocks noChangeAspect="1"/>
          </p:cNvPicPr>
          <p:nvPr/>
        </p:nvPicPr>
        <p:blipFill>
          <a:blip r:embed="rId4"/>
          <a:stretch>
            <a:fillRect/>
          </a:stretch>
        </p:blipFill>
        <p:spPr>
          <a:xfrm>
            <a:off x="7570829" y="3914078"/>
            <a:ext cx="6791942" cy="41371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9381" y="770572"/>
            <a:ext cx="11656100" cy="542449"/>
          </a:xfrm>
          <a:prstGeom prst="rect">
            <a:avLst/>
          </a:prstGeom>
          <a:noFill/>
          <a:ln/>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Intelligent Control: Power Electronics &amp; Remote System</a:t>
            </a:r>
            <a:endParaRPr lang="en-US" sz="3400" dirty="0"/>
          </a:p>
        </p:txBody>
      </p:sp>
      <p:sp>
        <p:nvSpPr>
          <p:cNvPr id="3" name="Text 1"/>
          <p:cNvSpPr/>
          <p:nvPr/>
        </p:nvSpPr>
        <p:spPr>
          <a:xfrm>
            <a:off x="759381" y="1746885"/>
            <a:ext cx="13111639" cy="1041202"/>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The ESP8266 wireless module serves as the brain of the vehicle, managing critical functions from motor control to remote diagnostics. It facilitates real-time telemetry, fault alerts, and enables seamless wireless remote control, offering an intuitive user experience.</a:t>
            </a:r>
            <a:endParaRPr lang="en-US" sz="1700" dirty="0"/>
          </a:p>
        </p:txBody>
      </p:sp>
      <p:sp>
        <p:nvSpPr>
          <p:cNvPr id="4" name="Shape 2"/>
          <p:cNvSpPr/>
          <p:nvPr/>
        </p:nvSpPr>
        <p:spPr>
          <a:xfrm>
            <a:off x="669073" y="3379865"/>
            <a:ext cx="6537661" cy="1606034"/>
          </a:xfrm>
          <a:prstGeom prst="roundRect">
            <a:avLst>
              <a:gd name="adj" fmla="val 9110"/>
            </a:avLst>
          </a:prstGeom>
          <a:solidFill>
            <a:srgbClr val="FFFFFF"/>
          </a:solidFill>
          <a:ln/>
        </p:spPr>
      </p:sp>
      <p:sp>
        <p:nvSpPr>
          <p:cNvPr id="5" name="Shape 3"/>
          <p:cNvSpPr/>
          <p:nvPr/>
        </p:nvSpPr>
        <p:spPr>
          <a:xfrm>
            <a:off x="759381" y="3327083"/>
            <a:ext cx="6447353" cy="121920"/>
          </a:xfrm>
          <a:prstGeom prst="roundRect">
            <a:avLst>
              <a:gd name="adj" fmla="val 74748"/>
            </a:avLst>
          </a:prstGeom>
          <a:solidFill>
            <a:srgbClr val="4950BC"/>
          </a:solidFill>
          <a:ln/>
        </p:spPr>
      </p:sp>
      <p:sp>
        <p:nvSpPr>
          <p:cNvPr id="6" name="Shape 4"/>
          <p:cNvSpPr/>
          <p:nvPr/>
        </p:nvSpPr>
        <p:spPr>
          <a:xfrm>
            <a:off x="3657540" y="3032165"/>
            <a:ext cx="650915" cy="650915"/>
          </a:xfrm>
          <a:prstGeom prst="roundRect">
            <a:avLst>
              <a:gd name="adj" fmla="val 140479"/>
            </a:avLst>
          </a:prstGeom>
          <a:solidFill>
            <a:srgbClr val="4950BC"/>
          </a:solidFill>
          <a:ln/>
        </p:spPr>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52803" y="3227427"/>
            <a:ext cx="260271" cy="260271"/>
          </a:xfrm>
          <a:prstGeom prst="rect">
            <a:avLst/>
          </a:prstGeom>
        </p:spPr>
      </p:pic>
      <p:sp>
        <p:nvSpPr>
          <p:cNvPr id="8" name="Text 5"/>
          <p:cNvSpPr/>
          <p:nvPr/>
        </p:nvSpPr>
        <p:spPr>
          <a:xfrm>
            <a:off x="1006793" y="3900011"/>
            <a:ext cx="2712244" cy="338971"/>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Motor Management</a:t>
            </a:r>
            <a:endParaRPr lang="en-US" sz="2100" dirty="0"/>
          </a:p>
        </p:txBody>
      </p:sp>
      <p:sp>
        <p:nvSpPr>
          <p:cNvPr id="9" name="Text 6"/>
          <p:cNvSpPr/>
          <p:nvPr/>
        </p:nvSpPr>
        <p:spPr>
          <a:xfrm>
            <a:off x="1006793" y="4369118"/>
            <a:ext cx="5952530" cy="347067"/>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Precise control over motor speed and direction.</a:t>
            </a:r>
            <a:endParaRPr lang="en-US" sz="1700" dirty="0"/>
          </a:p>
        </p:txBody>
      </p:sp>
      <p:sp>
        <p:nvSpPr>
          <p:cNvPr id="10" name="Shape 7"/>
          <p:cNvSpPr/>
          <p:nvPr/>
        </p:nvSpPr>
        <p:spPr>
          <a:xfrm>
            <a:off x="7423666" y="3357563"/>
            <a:ext cx="6447353" cy="1606034"/>
          </a:xfrm>
          <a:prstGeom prst="roundRect">
            <a:avLst>
              <a:gd name="adj" fmla="val 9110"/>
            </a:avLst>
          </a:prstGeom>
          <a:solidFill>
            <a:srgbClr val="FFFFFF"/>
          </a:solidFill>
          <a:ln/>
        </p:spPr>
      </p:sp>
      <p:sp>
        <p:nvSpPr>
          <p:cNvPr id="11" name="Shape 8"/>
          <p:cNvSpPr/>
          <p:nvPr/>
        </p:nvSpPr>
        <p:spPr>
          <a:xfrm>
            <a:off x="7423666" y="3327083"/>
            <a:ext cx="6447353" cy="121920"/>
          </a:xfrm>
          <a:prstGeom prst="roundRect">
            <a:avLst>
              <a:gd name="adj" fmla="val 74748"/>
            </a:avLst>
          </a:prstGeom>
          <a:solidFill>
            <a:srgbClr val="4950BC"/>
          </a:solidFill>
          <a:ln/>
        </p:spPr>
      </p:sp>
      <p:sp>
        <p:nvSpPr>
          <p:cNvPr id="12" name="Shape 9"/>
          <p:cNvSpPr/>
          <p:nvPr/>
        </p:nvSpPr>
        <p:spPr>
          <a:xfrm>
            <a:off x="10321826" y="3032165"/>
            <a:ext cx="650915" cy="650915"/>
          </a:xfrm>
          <a:prstGeom prst="roundRect">
            <a:avLst>
              <a:gd name="adj" fmla="val 140479"/>
            </a:avLst>
          </a:prstGeom>
          <a:solidFill>
            <a:srgbClr val="4950BC"/>
          </a:solidFill>
          <a:ln/>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17088" y="3227427"/>
            <a:ext cx="260271" cy="260271"/>
          </a:xfrm>
          <a:prstGeom prst="rect">
            <a:avLst/>
          </a:prstGeom>
        </p:spPr>
      </p:pic>
      <p:sp>
        <p:nvSpPr>
          <p:cNvPr id="14" name="Text 10"/>
          <p:cNvSpPr/>
          <p:nvPr/>
        </p:nvSpPr>
        <p:spPr>
          <a:xfrm>
            <a:off x="7671078" y="3900011"/>
            <a:ext cx="2712244" cy="338971"/>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Telemetry &amp; Alerts</a:t>
            </a:r>
            <a:endParaRPr lang="en-US" sz="2100" dirty="0"/>
          </a:p>
        </p:txBody>
      </p:sp>
      <p:sp>
        <p:nvSpPr>
          <p:cNvPr id="15" name="Text 11"/>
          <p:cNvSpPr/>
          <p:nvPr/>
        </p:nvSpPr>
        <p:spPr>
          <a:xfrm>
            <a:off x="7671078" y="4369118"/>
            <a:ext cx="5952530" cy="347067"/>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Real-time data streaming and instant fault notifications.</a:t>
            </a:r>
            <a:endParaRPr lang="en-US" sz="1700" dirty="0"/>
          </a:p>
        </p:txBody>
      </p:sp>
      <p:sp>
        <p:nvSpPr>
          <p:cNvPr id="16" name="Shape 12"/>
          <p:cNvSpPr/>
          <p:nvPr/>
        </p:nvSpPr>
        <p:spPr>
          <a:xfrm>
            <a:off x="759381" y="5505926"/>
            <a:ext cx="6447353" cy="1953101"/>
          </a:xfrm>
          <a:prstGeom prst="roundRect">
            <a:avLst>
              <a:gd name="adj" fmla="val 7491"/>
            </a:avLst>
          </a:prstGeom>
          <a:solidFill>
            <a:srgbClr val="FFFFFF"/>
          </a:solidFill>
          <a:ln/>
        </p:spPr>
      </p:sp>
      <p:sp>
        <p:nvSpPr>
          <p:cNvPr id="17" name="Shape 13"/>
          <p:cNvSpPr/>
          <p:nvPr/>
        </p:nvSpPr>
        <p:spPr>
          <a:xfrm>
            <a:off x="759381" y="5475446"/>
            <a:ext cx="6447353" cy="121920"/>
          </a:xfrm>
          <a:prstGeom prst="roundRect">
            <a:avLst>
              <a:gd name="adj" fmla="val 74748"/>
            </a:avLst>
          </a:prstGeom>
          <a:solidFill>
            <a:srgbClr val="4950BC"/>
          </a:solidFill>
          <a:ln/>
        </p:spPr>
      </p:sp>
      <p:sp>
        <p:nvSpPr>
          <p:cNvPr id="18" name="Shape 14"/>
          <p:cNvSpPr/>
          <p:nvPr/>
        </p:nvSpPr>
        <p:spPr>
          <a:xfrm>
            <a:off x="3657540" y="5180528"/>
            <a:ext cx="650915" cy="650915"/>
          </a:xfrm>
          <a:prstGeom prst="roundRect">
            <a:avLst>
              <a:gd name="adj" fmla="val 140479"/>
            </a:avLst>
          </a:prstGeom>
          <a:solidFill>
            <a:srgbClr val="4950BC"/>
          </a:solidFill>
          <a:ln/>
        </p:spPr>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52803" y="5375791"/>
            <a:ext cx="260271" cy="260271"/>
          </a:xfrm>
          <a:prstGeom prst="rect">
            <a:avLst/>
          </a:prstGeom>
        </p:spPr>
      </p:pic>
      <p:sp>
        <p:nvSpPr>
          <p:cNvPr id="20" name="Text 15"/>
          <p:cNvSpPr/>
          <p:nvPr/>
        </p:nvSpPr>
        <p:spPr>
          <a:xfrm>
            <a:off x="1006793" y="6048375"/>
            <a:ext cx="2712244" cy="338971"/>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Wireless Operation</a:t>
            </a:r>
            <a:endParaRPr lang="en-US" sz="2100" dirty="0"/>
          </a:p>
        </p:txBody>
      </p:sp>
      <p:sp>
        <p:nvSpPr>
          <p:cNvPr id="21" name="Text 16"/>
          <p:cNvSpPr/>
          <p:nvPr/>
        </p:nvSpPr>
        <p:spPr>
          <a:xfrm>
            <a:off x="1006793" y="6517481"/>
            <a:ext cx="5952530" cy="694134"/>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Full remote control capabilities, enhancing usability and safety.</a:t>
            </a:r>
            <a:endParaRPr lang="en-US" sz="1700" dirty="0"/>
          </a:p>
        </p:txBody>
      </p:sp>
      <p:sp>
        <p:nvSpPr>
          <p:cNvPr id="22" name="Shape 17"/>
          <p:cNvSpPr/>
          <p:nvPr/>
        </p:nvSpPr>
        <p:spPr>
          <a:xfrm>
            <a:off x="7423666" y="5505926"/>
            <a:ext cx="6447353" cy="1953101"/>
          </a:xfrm>
          <a:prstGeom prst="roundRect">
            <a:avLst>
              <a:gd name="adj" fmla="val 7491"/>
            </a:avLst>
          </a:prstGeom>
          <a:solidFill>
            <a:srgbClr val="FFFFFF"/>
          </a:solidFill>
          <a:ln/>
        </p:spPr>
      </p:sp>
      <p:sp>
        <p:nvSpPr>
          <p:cNvPr id="23" name="Shape 18"/>
          <p:cNvSpPr/>
          <p:nvPr/>
        </p:nvSpPr>
        <p:spPr>
          <a:xfrm>
            <a:off x="7423666" y="5475446"/>
            <a:ext cx="6447353" cy="121920"/>
          </a:xfrm>
          <a:prstGeom prst="roundRect">
            <a:avLst>
              <a:gd name="adj" fmla="val 74748"/>
            </a:avLst>
          </a:prstGeom>
          <a:solidFill>
            <a:srgbClr val="4950BC"/>
          </a:solidFill>
          <a:ln/>
        </p:spPr>
      </p:sp>
      <p:sp>
        <p:nvSpPr>
          <p:cNvPr id="24" name="Shape 19"/>
          <p:cNvSpPr/>
          <p:nvPr/>
        </p:nvSpPr>
        <p:spPr>
          <a:xfrm>
            <a:off x="10321826" y="5180528"/>
            <a:ext cx="650915" cy="650915"/>
          </a:xfrm>
          <a:prstGeom prst="roundRect">
            <a:avLst>
              <a:gd name="adj" fmla="val 140479"/>
            </a:avLst>
          </a:prstGeom>
          <a:solidFill>
            <a:srgbClr val="4950BC"/>
          </a:solidFill>
          <a:ln/>
        </p:spPr>
      </p:sp>
      <p:pic>
        <p:nvPicPr>
          <p:cNvPr id="2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17088" y="5375791"/>
            <a:ext cx="260271" cy="260271"/>
          </a:xfrm>
          <a:prstGeom prst="rect">
            <a:avLst/>
          </a:prstGeom>
        </p:spPr>
      </p:pic>
      <p:sp>
        <p:nvSpPr>
          <p:cNvPr id="26" name="Text 20"/>
          <p:cNvSpPr/>
          <p:nvPr/>
        </p:nvSpPr>
        <p:spPr>
          <a:xfrm>
            <a:off x="7671078" y="6048375"/>
            <a:ext cx="2712244" cy="338971"/>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Protection Circuits</a:t>
            </a:r>
            <a:endParaRPr lang="en-US" sz="2100" dirty="0"/>
          </a:p>
        </p:txBody>
      </p:sp>
      <p:sp>
        <p:nvSpPr>
          <p:cNvPr id="27" name="Text 21"/>
          <p:cNvSpPr/>
          <p:nvPr/>
        </p:nvSpPr>
        <p:spPr>
          <a:xfrm>
            <a:off x="7671078" y="6517481"/>
            <a:ext cx="5952530" cy="694134"/>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Safeguards against overcurrents and voltage spikes, ensuring system longevity.</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50081"/>
            <a:ext cx="7562255"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Integrated Vehicle Control System</a:t>
            </a:r>
            <a:endParaRPr lang="en-US" sz="3550" dirty="0"/>
          </a:p>
        </p:txBody>
      </p:sp>
      <p:sp>
        <p:nvSpPr>
          <p:cNvPr id="3" name="Text 1"/>
          <p:cNvSpPr/>
          <p:nvPr/>
        </p:nvSpPr>
        <p:spPr>
          <a:xfrm>
            <a:off x="793790" y="1670685"/>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ESP8266 acts as the central controller, orchestrating all vehicle functions. It integrates sensor data, manages drive control, handles gear shifting, and implements robust fault management strategies. This holistic approach ensures optimal driving performance and enhanced safety.</a:t>
            </a:r>
            <a:endParaRPr lang="en-US" sz="1750" dirty="0"/>
          </a:p>
        </p:txBody>
      </p:sp>
      <p:sp>
        <p:nvSpPr>
          <p:cNvPr id="4" name="Text 2"/>
          <p:cNvSpPr/>
          <p:nvPr/>
        </p:nvSpPr>
        <p:spPr>
          <a:xfrm>
            <a:off x="1857256" y="3462576"/>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272525"/>
                </a:solidFill>
                <a:latin typeface="Inter Bold" pitchFamily="34" charset="0"/>
                <a:ea typeface="Inter Bold" pitchFamily="34" charset="-122"/>
                <a:cs typeface="Inter Bold" pitchFamily="34" charset="-120"/>
              </a:rPr>
              <a:t>Sensor Integration</a:t>
            </a:r>
            <a:endParaRPr lang="en-US" sz="2200" dirty="0"/>
          </a:p>
        </p:txBody>
      </p:sp>
      <p:sp>
        <p:nvSpPr>
          <p:cNvPr id="5" name="Text 3"/>
          <p:cNvSpPr/>
          <p:nvPr/>
        </p:nvSpPr>
        <p:spPr>
          <a:xfrm>
            <a:off x="2997494" y="3952994"/>
            <a:ext cx="1694998" cy="725805"/>
          </a:xfrm>
          <a:prstGeom prst="rect">
            <a:avLst/>
          </a:prstGeom>
          <a:noFill/>
          <a:ln/>
        </p:spPr>
        <p:txBody>
          <a:bodyPr wrap="square" lIns="0" tIns="0" rIns="0" bIns="0" rtlCol="0" anchor="t"/>
          <a:lstStyle/>
          <a:p>
            <a:pPr marL="0" indent="0" algn="r">
              <a:lnSpc>
                <a:spcPts val="2850"/>
              </a:lnSpc>
              <a:buNone/>
            </a:pPr>
            <a:r>
              <a:rPr lang="en-US" sz="1750" dirty="0">
                <a:solidFill>
                  <a:srgbClr val="272525"/>
                </a:solidFill>
                <a:latin typeface="Inter" pitchFamily="34" charset="0"/>
                <a:ea typeface="Inter" pitchFamily="34" charset="-122"/>
                <a:cs typeface="Inter" pitchFamily="34" charset="-120"/>
              </a:rPr>
              <a:t>Aggregates data from various onboard sensors.</a:t>
            </a:r>
            <a:endParaRPr lang="en-US" sz="1750" dirty="0"/>
          </a:p>
        </p:txBody>
      </p:sp>
      <p:pic>
        <p:nvPicPr>
          <p:cNvPr id="6" name="Image 0" descr="preencoded.png"/>
          <p:cNvPicPr>
            <a:picLocks noChangeAspect="1"/>
          </p:cNvPicPr>
          <p:nvPr/>
        </p:nvPicPr>
        <p:blipFill>
          <a:blip r:embed="rId3"/>
          <a:stretch>
            <a:fillRect/>
          </a:stretch>
        </p:blipFill>
        <p:spPr>
          <a:xfrm>
            <a:off x="5032653" y="3014543"/>
            <a:ext cx="4564975" cy="4564975"/>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731" y="3820001"/>
            <a:ext cx="339328" cy="339328"/>
          </a:xfrm>
          <a:prstGeom prst="rect">
            <a:avLst/>
          </a:prstGeom>
        </p:spPr>
      </p:pic>
      <p:sp>
        <p:nvSpPr>
          <p:cNvPr id="8" name="Text 4"/>
          <p:cNvSpPr/>
          <p:nvPr/>
        </p:nvSpPr>
        <p:spPr>
          <a:xfrm>
            <a:off x="9937790" y="346257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Drive Control</a:t>
            </a:r>
            <a:endParaRPr lang="en-US" sz="2200" dirty="0"/>
          </a:p>
        </p:txBody>
      </p:sp>
      <p:sp>
        <p:nvSpPr>
          <p:cNvPr id="9" name="Text 5"/>
          <p:cNvSpPr/>
          <p:nvPr/>
        </p:nvSpPr>
        <p:spPr>
          <a:xfrm>
            <a:off x="9902283" y="3777317"/>
            <a:ext cx="2163337"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Manages acceleration, braking, and steering inputs.</a:t>
            </a:r>
            <a:endParaRPr lang="en-US" sz="1750" dirty="0"/>
          </a:p>
        </p:txBody>
      </p:sp>
      <p:pic>
        <p:nvPicPr>
          <p:cNvPr id="10" name="Image 2" descr="preencoded.png"/>
          <p:cNvPicPr>
            <a:picLocks noChangeAspect="1"/>
          </p:cNvPicPr>
          <p:nvPr/>
        </p:nvPicPr>
        <p:blipFill>
          <a:blip r:embed="rId6"/>
          <a:stretch>
            <a:fillRect/>
          </a:stretch>
        </p:blipFill>
        <p:spPr>
          <a:xfrm>
            <a:off x="5032653" y="3014543"/>
            <a:ext cx="4564975" cy="4564975"/>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52604" y="4208502"/>
            <a:ext cx="339328" cy="339328"/>
          </a:xfrm>
          <a:prstGeom prst="rect">
            <a:avLst/>
          </a:prstGeom>
        </p:spPr>
      </p:pic>
      <p:sp>
        <p:nvSpPr>
          <p:cNvPr id="12" name="Text 6"/>
          <p:cNvSpPr/>
          <p:nvPr/>
        </p:nvSpPr>
        <p:spPr>
          <a:xfrm>
            <a:off x="9642659" y="5650683"/>
            <a:ext cx="163154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Gear Shifting</a:t>
            </a:r>
            <a:endParaRPr lang="en-US" sz="2200" dirty="0"/>
          </a:p>
        </p:txBody>
      </p:sp>
      <p:sp>
        <p:nvSpPr>
          <p:cNvPr id="13" name="Text 7"/>
          <p:cNvSpPr/>
          <p:nvPr/>
        </p:nvSpPr>
        <p:spPr>
          <a:xfrm>
            <a:off x="9937791" y="6405563"/>
            <a:ext cx="1336417" cy="368141"/>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Automated or manual gear selection for efficient power delivery.</a:t>
            </a:r>
            <a:endParaRPr lang="en-US" sz="1750" dirty="0"/>
          </a:p>
        </p:txBody>
      </p:sp>
      <p:pic>
        <p:nvPicPr>
          <p:cNvPr id="14" name="Image 4" descr="preencoded.png"/>
          <p:cNvPicPr>
            <a:picLocks noChangeAspect="1"/>
          </p:cNvPicPr>
          <p:nvPr/>
        </p:nvPicPr>
        <p:blipFill>
          <a:blip r:embed="rId9"/>
          <a:stretch>
            <a:fillRect/>
          </a:stretch>
        </p:blipFill>
        <p:spPr>
          <a:xfrm>
            <a:off x="5032653" y="3014543"/>
            <a:ext cx="4564975" cy="4564975"/>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64103" y="6434376"/>
            <a:ext cx="339328" cy="339328"/>
          </a:xfrm>
          <a:prstGeom prst="rect">
            <a:avLst/>
          </a:prstGeom>
        </p:spPr>
      </p:pic>
      <p:sp>
        <p:nvSpPr>
          <p:cNvPr id="16" name="Text 8"/>
          <p:cNvSpPr/>
          <p:nvPr/>
        </p:nvSpPr>
        <p:spPr>
          <a:xfrm>
            <a:off x="1857256" y="5915144"/>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272525"/>
                </a:solidFill>
                <a:latin typeface="Inter Bold" pitchFamily="34" charset="0"/>
                <a:ea typeface="Inter Bold" pitchFamily="34" charset="-122"/>
                <a:cs typeface="Inter Bold" pitchFamily="34" charset="-120"/>
              </a:rPr>
              <a:t>Fault Management</a:t>
            </a:r>
            <a:endParaRPr lang="en-US" sz="2200" dirty="0"/>
          </a:p>
        </p:txBody>
      </p:sp>
      <p:sp>
        <p:nvSpPr>
          <p:cNvPr id="17" name="Text 9"/>
          <p:cNvSpPr/>
          <p:nvPr/>
        </p:nvSpPr>
        <p:spPr>
          <a:xfrm>
            <a:off x="2665140" y="6405563"/>
            <a:ext cx="2027351" cy="725805"/>
          </a:xfrm>
          <a:prstGeom prst="rect">
            <a:avLst/>
          </a:prstGeom>
          <a:noFill/>
          <a:ln/>
        </p:spPr>
        <p:txBody>
          <a:bodyPr wrap="square" lIns="0" tIns="0" rIns="0" bIns="0" rtlCol="0" anchor="t"/>
          <a:lstStyle/>
          <a:p>
            <a:pPr marL="0" indent="0" algn="r">
              <a:lnSpc>
                <a:spcPts val="2850"/>
              </a:lnSpc>
              <a:buNone/>
            </a:pPr>
            <a:r>
              <a:rPr lang="en-US" sz="1750" dirty="0">
                <a:solidFill>
                  <a:srgbClr val="272525"/>
                </a:solidFill>
                <a:latin typeface="Inter" pitchFamily="34" charset="0"/>
                <a:ea typeface="Inter" pitchFamily="34" charset="-122"/>
                <a:cs typeface="Inter" pitchFamily="34" charset="-120"/>
              </a:rPr>
              <a:t>Identifies and responds to system errors, including battery isolation.</a:t>
            </a:r>
            <a:endParaRPr lang="en-US" sz="1750" dirty="0"/>
          </a:p>
        </p:txBody>
      </p:sp>
      <p:pic>
        <p:nvPicPr>
          <p:cNvPr id="18" name="Image 6" descr="preencoded.png"/>
          <p:cNvPicPr>
            <a:picLocks noChangeAspect="1"/>
          </p:cNvPicPr>
          <p:nvPr/>
        </p:nvPicPr>
        <p:blipFill>
          <a:blip r:embed="rId12"/>
          <a:stretch>
            <a:fillRect/>
          </a:stretch>
        </p:blipFill>
        <p:spPr>
          <a:xfrm>
            <a:off x="5032653" y="3014543"/>
            <a:ext cx="4564975" cy="4564975"/>
          </a:xfrm>
          <a:prstGeom prst="rect">
            <a:avLst/>
          </a:prstGeom>
        </p:spPr>
      </p:pic>
      <p:pic>
        <p:nvPicPr>
          <p:cNvPr id="19"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838230" y="6045875"/>
            <a:ext cx="339328" cy="339328"/>
          </a:xfrm>
          <a:prstGeom prst="rect">
            <a:avLst/>
          </a:prstGeom>
        </p:spPr>
      </p:pic>
      <p:pic>
        <p:nvPicPr>
          <p:cNvPr id="29" name="Picture 28">
            <a:extLst>
              <a:ext uri="{FF2B5EF4-FFF2-40B4-BE49-F238E27FC236}">
                <a16:creationId xmlns:a16="http://schemas.microsoft.com/office/drawing/2014/main" id="{4D915DF0-C7E9-79CF-D68C-774911023788}"/>
              </a:ext>
            </a:extLst>
          </p:cNvPr>
          <p:cNvPicPr>
            <a:picLocks noChangeAspect="1"/>
          </p:cNvPicPr>
          <p:nvPr/>
        </p:nvPicPr>
        <p:blipFill>
          <a:blip r:embed="rId15"/>
          <a:stretch>
            <a:fillRect/>
          </a:stretch>
        </p:blipFill>
        <p:spPr>
          <a:xfrm>
            <a:off x="313872" y="3947051"/>
            <a:ext cx="3087250" cy="1789608"/>
          </a:xfrm>
          <a:prstGeom prst="rect">
            <a:avLst/>
          </a:prstGeom>
        </p:spPr>
      </p:pic>
      <p:pic>
        <p:nvPicPr>
          <p:cNvPr id="21" name="Picture 20">
            <a:extLst>
              <a:ext uri="{FF2B5EF4-FFF2-40B4-BE49-F238E27FC236}">
                <a16:creationId xmlns:a16="http://schemas.microsoft.com/office/drawing/2014/main" id="{811BFAB0-F39A-8842-5ED7-F15A7181BAEA}"/>
              </a:ext>
            </a:extLst>
          </p:cNvPr>
          <p:cNvPicPr>
            <a:picLocks noChangeAspect="1"/>
          </p:cNvPicPr>
          <p:nvPr/>
        </p:nvPicPr>
        <p:blipFill>
          <a:blip r:embed="rId16"/>
          <a:stretch>
            <a:fillRect/>
          </a:stretch>
        </p:blipFill>
        <p:spPr>
          <a:xfrm>
            <a:off x="11909502" y="3435248"/>
            <a:ext cx="2605167" cy="43371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64639"/>
            <a:ext cx="11907560"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Connectivity &amp; Communication: The ESP8266 Module</a:t>
            </a:r>
            <a:endParaRPr lang="en-US" sz="3550" dirty="0"/>
          </a:p>
        </p:txBody>
      </p:sp>
      <p:sp>
        <p:nvSpPr>
          <p:cNvPr id="4" name="Text 1"/>
          <p:cNvSpPr/>
          <p:nvPr/>
        </p:nvSpPr>
        <p:spPr>
          <a:xfrm>
            <a:off x="6239828" y="2074783"/>
            <a:ext cx="7604284"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ESP8266 module is pivotal for enabling comprehensive wireless capabilities. Its integrated Wi-Fi facilitates seamless remote control, efficient data transmission for performance analysis, and detailed telemetry.</a:t>
            </a:r>
            <a:endParaRPr lang="en-US" sz="1750" dirty="0"/>
          </a:p>
        </p:txBody>
      </p:sp>
      <p:sp>
        <p:nvSpPr>
          <p:cNvPr id="5" name="Text 2"/>
          <p:cNvSpPr/>
          <p:nvPr/>
        </p:nvSpPr>
        <p:spPr>
          <a:xfrm>
            <a:off x="6239828" y="3730466"/>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Remote Actuation:</a:t>
            </a:r>
            <a:r>
              <a:rPr lang="en-US" sz="1750" dirty="0">
                <a:solidFill>
                  <a:srgbClr val="272525"/>
                </a:solidFill>
                <a:latin typeface="Inter" pitchFamily="34" charset="0"/>
                <a:ea typeface="Inter" pitchFamily="34" charset="-122"/>
                <a:cs typeface="Inter" pitchFamily="34" charset="-120"/>
              </a:rPr>
              <a:t> Control the EV from a distance.</a:t>
            </a:r>
            <a:endParaRPr lang="en-US" sz="1750" dirty="0"/>
          </a:p>
        </p:txBody>
      </p:sp>
      <p:sp>
        <p:nvSpPr>
          <p:cNvPr id="6" name="Text 3"/>
          <p:cNvSpPr/>
          <p:nvPr/>
        </p:nvSpPr>
        <p:spPr>
          <a:xfrm>
            <a:off x="6239828" y="4172664"/>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Diagnostics:</a:t>
            </a:r>
            <a:r>
              <a:rPr lang="en-US" sz="1750" dirty="0">
                <a:solidFill>
                  <a:srgbClr val="272525"/>
                </a:solidFill>
                <a:latin typeface="Inter" pitchFamily="34" charset="0"/>
                <a:ea typeface="Inter" pitchFamily="34" charset="-122"/>
                <a:cs typeface="Inter" pitchFamily="34" charset="-120"/>
              </a:rPr>
              <a:t> Real-time system health checks and troubleshooting.</a:t>
            </a:r>
            <a:endParaRPr lang="en-US" sz="1750" dirty="0"/>
          </a:p>
        </p:txBody>
      </p:sp>
      <p:sp>
        <p:nvSpPr>
          <p:cNvPr id="7" name="Text 4"/>
          <p:cNvSpPr/>
          <p:nvPr/>
        </p:nvSpPr>
        <p:spPr>
          <a:xfrm>
            <a:off x="6239828" y="4614863"/>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Over-the-Air Updates:</a:t>
            </a:r>
            <a:r>
              <a:rPr lang="en-US" sz="1750" dirty="0">
                <a:solidFill>
                  <a:srgbClr val="272525"/>
                </a:solidFill>
                <a:latin typeface="Inter" pitchFamily="34" charset="0"/>
                <a:ea typeface="Inter" pitchFamily="34" charset="-122"/>
                <a:cs typeface="Inter" pitchFamily="34" charset="-120"/>
              </a:rPr>
              <a:t> Future-proofing with remote software enhancements.</a:t>
            </a:r>
            <a:endParaRPr lang="en-US" sz="1750" dirty="0"/>
          </a:p>
        </p:txBody>
      </p:sp>
      <p:sp>
        <p:nvSpPr>
          <p:cNvPr id="8" name="Text 5"/>
          <p:cNvSpPr/>
          <p:nvPr/>
        </p:nvSpPr>
        <p:spPr>
          <a:xfrm>
            <a:off x="6239828" y="5419963"/>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Real-time Logging:</a:t>
            </a:r>
            <a:r>
              <a:rPr lang="en-US" sz="1750" dirty="0">
                <a:solidFill>
                  <a:srgbClr val="272525"/>
                </a:solidFill>
                <a:latin typeface="Inter" pitchFamily="34" charset="0"/>
                <a:ea typeface="Inter" pitchFamily="34" charset="-122"/>
                <a:cs typeface="Inter" pitchFamily="34" charset="-120"/>
              </a:rPr>
              <a:t> Capturing critical operational data for analysis.</a:t>
            </a:r>
            <a:endParaRPr lang="en-US" sz="1750" dirty="0"/>
          </a:p>
        </p:txBody>
      </p:sp>
      <p:pic>
        <p:nvPicPr>
          <p:cNvPr id="10" name="Picture 9">
            <a:extLst>
              <a:ext uri="{FF2B5EF4-FFF2-40B4-BE49-F238E27FC236}">
                <a16:creationId xmlns:a16="http://schemas.microsoft.com/office/drawing/2014/main" id="{2DD19386-93ED-9C9F-157D-7AACC2A22898}"/>
              </a:ext>
            </a:extLst>
          </p:cNvPr>
          <p:cNvPicPr>
            <a:picLocks noChangeAspect="1"/>
          </p:cNvPicPr>
          <p:nvPr/>
        </p:nvPicPr>
        <p:blipFill>
          <a:blip r:embed="rId3"/>
          <a:stretch>
            <a:fillRect/>
          </a:stretch>
        </p:blipFill>
        <p:spPr>
          <a:xfrm>
            <a:off x="128960" y="905356"/>
            <a:ext cx="6021659" cy="3267308"/>
          </a:xfrm>
          <a:prstGeom prst="rect">
            <a:avLst/>
          </a:prstGeom>
        </p:spPr>
      </p:pic>
      <p:pic>
        <p:nvPicPr>
          <p:cNvPr id="12" name="Picture 11">
            <a:extLst>
              <a:ext uri="{FF2B5EF4-FFF2-40B4-BE49-F238E27FC236}">
                <a16:creationId xmlns:a16="http://schemas.microsoft.com/office/drawing/2014/main" id="{143C74D2-F3F5-1CF7-D512-331FB05AB680}"/>
              </a:ext>
            </a:extLst>
          </p:cNvPr>
          <p:cNvPicPr>
            <a:picLocks noChangeAspect="1"/>
          </p:cNvPicPr>
          <p:nvPr/>
        </p:nvPicPr>
        <p:blipFill>
          <a:blip r:embed="rId4"/>
          <a:stretch>
            <a:fillRect/>
          </a:stretch>
        </p:blipFill>
        <p:spPr>
          <a:xfrm>
            <a:off x="124105" y="4435311"/>
            <a:ext cx="6021659" cy="34151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4138" y="570309"/>
            <a:ext cx="8162330" cy="517327"/>
          </a:xfrm>
          <a:prstGeom prst="rect">
            <a:avLst/>
          </a:prstGeom>
          <a:noFill/>
          <a:ln/>
        </p:spPr>
        <p:txBody>
          <a:bodyPr wrap="none" lIns="0" tIns="0" rIns="0" bIns="0" rtlCol="0" anchor="t"/>
          <a:lstStyle/>
          <a:p>
            <a:pPr marL="0" indent="0" algn="l">
              <a:lnSpc>
                <a:spcPts val="4050"/>
              </a:lnSpc>
              <a:buNone/>
            </a:pPr>
            <a:r>
              <a:rPr lang="en-US" sz="3250" b="1" dirty="0">
                <a:solidFill>
                  <a:srgbClr val="000000"/>
                </a:solidFill>
                <a:latin typeface="Inter Bold" pitchFamily="34" charset="0"/>
                <a:ea typeface="Inter Bold" pitchFamily="34" charset="-122"/>
                <a:cs typeface="Inter Bold" pitchFamily="34" charset="-120"/>
              </a:rPr>
              <a:t>Validation, Economics &amp; Future Horizons</a:t>
            </a:r>
            <a:endParaRPr lang="en-US" sz="3250" dirty="0"/>
          </a:p>
        </p:txBody>
      </p:sp>
      <p:sp>
        <p:nvSpPr>
          <p:cNvPr id="3" name="Text 1"/>
          <p:cNvSpPr/>
          <p:nvPr/>
        </p:nvSpPr>
        <p:spPr>
          <a:xfrm>
            <a:off x="724138" y="1501378"/>
            <a:ext cx="13182124" cy="992981"/>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Rigorous testing confirms the platform's stability, responsiveness, and safety features, including fault response and precise gear shifting. A comparative cost analysis highlights its competitive advantage against commercial EVs, underscoring its value for education and development.</a:t>
            </a:r>
            <a:endParaRPr lang="en-US" sz="1600" dirty="0"/>
          </a:p>
        </p:txBody>
      </p:sp>
      <p:sp>
        <p:nvSpPr>
          <p:cNvPr id="4" name="Shape 2"/>
          <p:cNvSpPr/>
          <p:nvPr/>
        </p:nvSpPr>
        <p:spPr>
          <a:xfrm>
            <a:off x="7303770" y="2727008"/>
            <a:ext cx="22860" cy="4037648"/>
          </a:xfrm>
          <a:prstGeom prst="roundRect">
            <a:avLst>
              <a:gd name="adj" fmla="val 380138"/>
            </a:avLst>
          </a:prstGeom>
          <a:solidFill>
            <a:srgbClr val="C0C1D7"/>
          </a:solidFill>
          <a:ln/>
        </p:spPr>
      </p:sp>
      <p:sp>
        <p:nvSpPr>
          <p:cNvPr id="5" name="Shape 3"/>
          <p:cNvSpPr/>
          <p:nvPr/>
        </p:nvSpPr>
        <p:spPr>
          <a:xfrm>
            <a:off x="6924318" y="2948226"/>
            <a:ext cx="413742" cy="22860"/>
          </a:xfrm>
          <a:prstGeom prst="roundRect">
            <a:avLst>
              <a:gd name="adj" fmla="val 380138"/>
            </a:avLst>
          </a:prstGeom>
          <a:solidFill>
            <a:srgbClr val="C0C1D7"/>
          </a:solidFill>
          <a:ln/>
        </p:spPr>
      </p:sp>
      <p:sp>
        <p:nvSpPr>
          <p:cNvPr id="6" name="Shape 4"/>
          <p:cNvSpPr/>
          <p:nvPr/>
        </p:nvSpPr>
        <p:spPr>
          <a:xfrm>
            <a:off x="7237631" y="2882086"/>
            <a:ext cx="155138" cy="155138"/>
          </a:xfrm>
          <a:prstGeom prst="roundRect">
            <a:avLst>
              <a:gd name="adj" fmla="val 294705"/>
            </a:avLst>
          </a:prstGeom>
          <a:solidFill>
            <a:srgbClr val="4950BC"/>
          </a:solidFill>
          <a:ln/>
        </p:spPr>
      </p:sp>
      <p:sp>
        <p:nvSpPr>
          <p:cNvPr id="7" name="Text 5"/>
          <p:cNvSpPr/>
          <p:nvPr/>
        </p:nvSpPr>
        <p:spPr>
          <a:xfrm>
            <a:off x="3748326" y="2798088"/>
            <a:ext cx="2739271" cy="323255"/>
          </a:xfrm>
          <a:prstGeom prst="rect">
            <a:avLst/>
          </a:prstGeom>
          <a:noFill/>
          <a:ln/>
        </p:spPr>
        <p:txBody>
          <a:bodyPr wrap="none" lIns="0" tIns="0" rIns="0" bIns="0" rtlCol="0" anchor="t"/>
          <a:lstStyle/>
          <a:p>
            <a:pPr marL="0" indent="0" algn="r">
              <a:lnSpc>
                <a:spcPts val="2500"/>
              </a:lnSpc>
              <a:buNone/>
            </a:pPr>
            <a:r>
              <a:rPr lang="en-US" sz="2000" b="1" dirty="0">
                <a:solidFill>
                  <a:srgbClr val="272525"/>
                </a:solidFill>
                <a:latin typeface="Inter Bold" pitchFamily="34" charset="0"/>
                <a:ea typeface="Inter Bold" pitchFamily="34" charset="-122"/>
                <a:cs typeface="Inter Bold" pitchFamily="34" charset="-120"/>
              </a:rPr>
              <a:t>Successful Validation</a:t>
            </a:r>
            <a:endParaRPr lang="en-US" sz="2000" dirty="0"/>
          </a:p>
        </p:txBody>
      </p:sp>
      <p:sp>
        <p:nvSpPr>
          <p:cNvPr id="8" name="Text 6"/>
          <p:cNvSpPr/>
          <p:nvPr/>
        </p:nvSpPr>
        <p:spPr>
          <a:xfrm>
            <a:off x="724138" y="3245406"/>
            <a:ext cx="5763458" cy="661988"/>
          </a:xfrm>
          <a:prstGeom prst="rect">
            <a:avLst/>
          </a:prstGeom>
          <a:noFill/>
          <a:ln/>
        </p:spPr>
        <p:txBody>
          <a:bodyPr wrap="square" lIns="0" tIns="0" rIns="0" bIns="0" rtlCol="0" anchor="t"/>
          <a:lstStyle/>
          <a:p>
            <a:pPr marL="0" indent="0" algn="r">
              <a:lnSpc>
                <a:spcPts val="2600"/>
              </a:lnSpc>
              <a:buNone/>
            </a:pPr>
            <a:r>
              <a:rPr lang="en-US" sz="1600" dirty="0">
                <a:solidFill>
                  <a:srgbClr val="272525"/>
                </a:solidFill>
                <a:latin typeface="Inter" pitchFamily="34" charset="0"/>
                <a:ea typeface="Inter" pitchFamily="34" charset="-122"/>
                <a:cs typeface="Inter" pitchFamily="34" charset="-120"/>
              </a:rPr>
              <a:t>Confirmed stability, fault response, and precise control across all systems.</a:t>
            </a:r>
            <a:endParaRPr lang="en-US" sz="1600" dirty="0"/>
          </a:p>
        </p:txBody>
      </p:sp>
      <p:sp>
        <p:nvSpPr>
          <p:cNvPr id="9" name="Shape 7"/>
          <p:cNvSpPr/>
          <p:nvPr/>
        </p:nvSpPr>
        <p:spPr>
          <a:xfrm>
            <a:off x="7292340" y="4189571"/>
            <a:ext cx="413742" cy="22860"/>
          </a:xfrm>
          <a:prstGeom prst="roundRect">
            <a:avLst>
              <a:gd name="adj" fmla="val 380138"/>
            </a:avLst>
          </a:prstGeom>
          <a:solidFill>
            <a:srgbClr val="C0C1D7"/>
          </a:solidFill>
          <a:ln/>
        </p:spPr>
      </p:sp>
      <p:sp>
        <p:nvSpPr>
          <p:cNvPr id="10" name="Shape 8"/>
          <p:cNvSpPr/>
          <p:nvPr/>
        </p:nvSpPr>
        <p:spPr>
          <a:xfrm>
            <a:off x="7237631" y="4123432"/>
            <a:ext cx="155138" cy="155138"/>
          </a:xfrm>
          <a:prstGeom prst="roundRect">
            <a:avLst>
              <a:gd name="adj" fmla="val 294705"/>
            </a:avLst>
          </a:prstGeom>
          <a:solidFill>
            <a:srgbClr val="4950BC"/>
          </a:solidFill>
          <a:ln/>
        </p:spPr>
      </p:sp>
      <p:sp>
        <p:nvSpPr>
          <p:cNvPr id="11" name="Text 9"/>
          <p:cNvSpPr/>
          <p:nvPr/>
        </p:nvSpPr>
        <p:spPr>
          <a:xfrm>
            <a:off x="8142803" y="4039433"/>
            <a:ext cx="3378994" cy="323255"/>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Cost-Effective Prototyping</a:t>
            </a:r>
            <a:endParaRPr lang="en-US" sz="2000" dirty="0"/>
          </a:p>
        </p:txBody>
      </p:sp>
      <p:sp>
        <p:nvSpPr>
          <p:cNvPr id="12" name="Text 10"/>
          <p:cNvSpPr/>
          <p:nvPr/>
        </p:nvSpPr>
        <p:spPr>
          <a:xfrm>
            <a:off x="8142803" y="4486751"/>
            <a:ext cx="5763458" cy="661988"/>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Modular design drastically reduces development and maintenance costs.</a:t>
            </a:r>
            <a:endParaRPr lang="en-US" sz="1600" dirty="0"/>
          </a:p>
        </p:txBody>
      </p:sp>
      <p:sp>
        <p:nvSpPr>
          <p:cNvPr id="13" name="Shape 11"/>
          <p:cNvSpPr/>
          <p:nvPr/>
        </p:nvSpPr>
        <p:spPr>
          <a:xfrm>
            <a:off x="6924318" y="5259586"/>
            <a:ext cx="413742" cy="22860"/>
          </a:xfrm>
          <a:prstGeom prst="roundRect">
            <a:avLst>
              <a:gd name="adj" fmla="val 380138"/>
            </a:avLst>
          </a:prstGeom>
          <a:solidFill>
            <a:srgbClr val="C0C1D7"/>
          </a:solidFill>
          <a:ln/>
        </p:spPr>
      </p:sp>
      <p:sp>
        <p:nvSpPr>
          <p:cNvPr id="14" name="Shape 12"/>
          <p:cNvSpPr/>
          <p:nvPr/>
        </p:nvSpPr>
        <p:spPr>
          <a:xfrm>
            <a:off x="7237631" y="5193447"/>
            <a:ext cx="155138" cy="155138"/>
          </a:xfrm>
          <a:prstGeom prst="roundRect">
            <a:avLst>
              <a:gd name="adj" fmla="val 294705"/>
            </a:avLst>
          </a:prstGeom>
          <a:solidFill>
            <a:srgbClr val="4950BC"/>
          </a:solidFill>
          <a:ln/>
        </p:spPr>
      </p:sp>
      <p:sp>
        <p:nvSpPr>
          <p:cNvPr id="15" name="Text 13"/>
          <p:cNvSpPr/>
          <p:nvPr/>
        </p:nvSpPr>
        <p:spPr>
          <a:xfrm>
            <a:off x="3901321" y="5109448"/>
            <a:ext cx="2586276" cy="323255"/>
          </a:xfrm>
          <a:prstGeom prst="rect">
            <a:avLst/>
          </a:prstGeom>
          <a:noFill/>
          <a:ln/>
        </p:spPr>
        <p:txBody>
          <a:bodyPr wrap="none" lIns="0" tIns="0" rIns="0" bIns="0" rtlCol="0" anchor="t"/>
          <a:lstStyle/>
          <a:p>
            <a:pPr marL="0" indent="0" algn="r">
              <a:lnSpc>
                <a:spcPts val="2500"/>
              </a:lnSpc>
              <a:buNone/>
            </a:pPr>
            <a:r>
              <a:rPr lang="en-US" sz="2000" b="1" dirty="0">
                <a:solidFill>
                  <a:srgbClr val="272525"/>
                </a:solidFill>
                <a:latin typeface="Inter Bold" pitchFamily="34" charset="0"/>
                <a:ea typeface="Inter Bold" pitchFamily="34" charset="-122"/>
                <a:cs typeface="Inter Bold" pitchFamily="34" charset="-120"/>
              </a:rPr>
              <a:t>Envisioning Growth</a:t>
            </a:r>
            <a:endParaRPr lang="en-US" sz="2000" dirty="0"/>
          </a:p>
        </p:txBody>
      </p:sp>
      <p:sp>
        <p:nvSpPr>
          <p:cNvPr id="16" name="Text 14"/>
          <p:cNvSpPr/>
          <p:nvPr/>
        </p:nvSpPr>
        <p:spPr>
          <a:xfrm>
            <a:off x="724138" y="5556766"/>
            <a:ext cx="5763458" cy="661988"/>
          </a:xfrm>
          <a:prstGeom prst="rect">
            <a:avLst/>
          </a:prstGeom>
          <a:noFill/>
          <a:ln/>
        </p:spPr>
        <p:txBody>
          <a:bodyPr wrap="square" lIns="0" tIns="0" rIns="0" bIns="0" rtlCol="0" anchor="t"/>
          <a:lstStyle/>
          <a:p>
            <a:pPr marL="0" indent="0" algn="r">
              <a:lnSpc>
                <a:spcPts val="2600"/>
              </a:lnSpc>
              <a:buNone/>
            </a:pPr>
            <a:r>
              <a:rPr lang="en-US" sz="1600" dirty="0">
                <a:solidFill>
                  <a:srgbClr val="272525"/>
                </a:solidFill>
                <a:latin typeface="Inter" pitchFamily="34" charset="0"/>
                <a:ea typeface="Inter" pitchFamily="34" charset="-122"/>
                <a:cs typeface="Inter" pitchFamily="34" charset="-120"/>
              </a:rPr>
              <a:t>Future work includes advanced sensors, next-gen battery integration, IoT capabilities, and regenerative braking.</a:t>
            </a:r>
            <a:endParaRPr lang="en-US" sz="1600" dirty="0"/>
          </a:p>
        </p:txBody>
      </p:sp>
      <p:sp>
        <p:nvSpPr>
          <p:cNvPr id="17" name="Text 15"/>
          <p:cNvSpPr/>
          <p:nvPr/>
        </p:nvSpPr>
        <p:spPr>
          <a:xfrm>
            <a:off x="724138" y="6997303"/>
            <a:ext cx="13182124" cy="661988"/>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This platform stands as a testament to a successful, scalable, and serviceable EV design, paving the way for future innovations in electric mobility.</a:t>
            </a:r>
            <a:endParaRPr lang="en-US" sz="1600" dirty="0"/>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215</TotalTime>
  <Words>866</Words>
  <Application>Microsoft Office PowerPoint</Application>
  <PresentationFormat>Custom</PresentationFormat>
  <Paragraphs>85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Times New Roman</vt:lpstr>
      <vt:lpstr>Inter Bold</vt:lpstr>
      <vt:lpstr>Inter</vt:lpstr>
      <vt:lpstr>Arial</vt:lpstr>
      <vt:lpstr>Gill Sans MT</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POCHA ROHITH BABU</dc:creator>
  <cp:lastModifiedBy>BHARATH KUMAR PANJAGALLA</cp:lastModifiedBy>
  <cp:revision>5</cp:revision>
  <dcterms:created xsi:type="dcterms:W3CDTF">2025-11-14T15:18:58Z</dcterms:created>
  <dcterms:modified xsi:type="dcterms:W3CDTF">2025-11-20T14:02:25Z</dcterms:modified>
</cp:coreProperties>
</file>